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4" r:id="rId5"/>
    <p:sldId id="266" r:id="rId6"/>
    <p:sldId id="269" r:id="rId7"/>
    <p:sldId id="260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0EBB0-9AF0-9C17-2C1B-F63AEAF58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36F9A-42BC-C1D9-2B0A-F08139C9E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36850-9DA1-A805-D4E2-3DB3A357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67ECB-54C3-6BA6-7588-7B204B96B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65FCC-8FA1-2002-6E22-5AEF3B730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855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D1AEB-B2D8-1C99-3C23-00189D608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B7D4B-3F8F-F0E7-9B84-F248AA065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7628F-130D-7C1F-BDAB-FE0DEC1A8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015C2-2F0F-36A8-00E2-7F04E4EB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1F20D-C1E3-EE0E-D74D-B5E3AF256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6542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9860-07BA-9746-C7DD-37432A641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1713E-1ECB-D4DC-09A6-42549B987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5060A-F6AB-12AD-6205-FCD3304D7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7881A-5FFB-1556-A510-F92DC96C9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6CFD5-5940-DC62-46EB-EFF0B414B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6276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0174-CEC4-7966-C5F4-4DB466B11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747B7-8C97-168D-81B3-786262CB6A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E5FA45-BBC3-14AB-DD0E-4301705CB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89519-BDE5-ADC3-AC89-5CAD3ECC5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3/5/2026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57570-FAA2-C483-A53C-B376FE3CC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27F42-7410-B23D-5A1D-B693A5759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0841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A2A5B-8C6A-74BC-2163-BC28A11BD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8E653-9AE5-2636-44E3-0003F2E42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6AF44-2D49-B3D5-1A5B-6F54C01BF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27EA0-8C8A-B9D9-5CAE-A9D292459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39E700-4E83-AF01-8978-26850BC97A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6424E1-15CE-9C26-2705-756AE8E0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3/5/2026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11EC1C-A053-0BA3-E436-A8B56ED3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EF9170-2A6D-9245-3878-5DBADE60D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13819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A07E-3A9E-0C86-4711-0835C3A7C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DC8FCE-E482-4E88-2DE7-F36027835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3/5/2026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D4AE3-2C0C-8FB9-3EA2-4C80A3511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CFBD1-39C4-D692-6D1A-DB243A59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2734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65897-7DE9-0C14-58E8-B101D70EC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3/5/2026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28557F-4879-9C2B-F0EF-89FB283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261BE-B345-5952-47B5-BAB252B2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5014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35D8B-A22F-9DF0-0A5E-DB03632D2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61154-C98B-871C-6F45-482F49D7D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3FCBF-F090-E70F-0FC2-4151A09AC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09D3A-6F30-55AF-A6F5-3AB54C285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3/5/2026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10FB6-999D-ED56-118F-99DBB23DC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89B7C-55BD-50D1-70FB-BDBB154DF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01093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D10B2-21E7-FD6C-982C-3E15C92EF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1B557D-3670-DE51-0F42-52D0946F6E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EAF4B-1078-F96E-2C59-E015DCDF2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23785-456E-D8EF-1994-1A7372FA0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3/5/2026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5BF99-F101-588D-D1DC-C8938DC2C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4E3A9-C1F8-F86E-269B-7ED7BE2B8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2414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B732D-C13A-57C1-2C8D-A5177D0D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86E88-8EDA-3273-F8BE-26BF30A9F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D6156-20BD-8374-AAFC-B89E26A7E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81E27-9070-7845-3CD4-993434E3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BBFC5-FB73-E142-4841-037EBFC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3061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00C218-BAD5-6E45-E1E3-545CA44DC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AAAC2E-30D9-EC54-98A4-586D2FD5C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E86A6-9B47-2952-1874-BDBBE873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625C-03B8-46B3-ABE1-25C5A90DD2C7}" type="datetimeFigureOut">
              <a:rPr lang="en-PH" smtClean="0"/>
              <a:t>3/5/2026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EA74F-E767-7809-AB13-23A2F499A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23CA8-AA5F-1D22-0027-417B7B9E9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2132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8616BC-83EA-2A3E-9A7B-9FFD61F37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2B35B-7FCB-210B-A266-580E7DF4B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E39D0-A3DC-C3BE-BC5A-539C312E6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4625C-03B8-46B3-ABE1-25C5A90DD2C7}" type="datetimeFigureOut">
              <a:rPr lang="en-PH" smtClean="0"/>
              <a:t>3/5/2026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BF259-11CD-5795-49A4-63894A3185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14BEA-C572-4219-1CDF-F8D533BD9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ECAEC-054E-4201-A08F-E3B9BB652EF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8252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-scm.com/install/windows" TargetMode="External"/><Relationship Id="rId5" Type="http://schemas.openxmlformats.org/officeDocument/2006/relationships/hyperlink" Target="https://www.docker.com/" TargetMode="External"/><Relationship Id="rId4" Type="http://schemas.openxmlformats.org/officeDocument/2006/relationships/hyperlink" Target="https://nodejs.org/en/downloa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nodejs.org/en/downloa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facebook.com/photo/?fbid=122159955812934855&amp;set=a.122094378662934855" TargetMode="Externa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facebook.com/codingwithparvez/posts/learn-react-faster-by-understanding-the-vite-file-structure-know-where-component/122149853750934855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hyperlink" Target="https://github.com/Cpm-X-Dev/ViteReactDem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364AB3-FFD3-9576-FFCD-8B3AAE3F5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91420"/>
            <a:ext cx="7577137" cy="5533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2BDDCE-0F3C-DFB6-DA6B-3C652AED4BC8}"/>
              </a:ext>
            </a:extLst>
          </p:cNvPr>
          <p:cNvSpPr txBox="1"/>
          <p:nvPr/>
        </p:nvSpPr>
        <p:spPr>
          <a:xfrm>
            <a:off x="304800" y="389033"/>
            <a:ext cx="19591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ptos Black" panose="020F0502020204030204" pitchFamily="34" charset="0"/>
              </a:rPr>
              <a:t>REACT</a:t>
            </a:r>
          </a:p>
          <a:p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F0502020204030204" pitchFamily="34" charset="0"/>
              </a:rPr>
              <a:t>ESSENTIALS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8D1BB0-63E5-364B-74BF-2D8AC5BFC7F2}"/>
              </a:ext>
            </a:extLst>
          </p:cNvPr>
          <p:cNvSpPr txBox="1"/>
          <p:nvPr/>
        </p:nvSpPr>
        <p:spPr>
          <a:xfrm>
            <a:off x="4944097" y="404421"/>
            <a:ext cx="3000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ptos Black" panose="020B0004020202020204" pitchFamily="34" charset="0"/>
              </a:rPr>
              <a:t>MARCH 15 &amp; MARCH 22</a:t>
            </a:r>
            <a:endParaRPr lang="en-US" sz="2000" b="1" dirty="0">
              <a:latin typeface="Aptos Black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DF6605-42C2-EDFB-9AD6-A243A2227812}"/>
              </a:ext>
            </a:extLst>
          </p:cNvPr>
          <p:cNvSpPr txBox="1"/>
          <p:nvPr/>
        </p:nvSpPr>
        <p:spPr>
          <a:xfrm>
            <a:off x="4289045" y="6122318"/>
            <a:ext cx="36555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ptos Black" panose="020B0004020202020204" pitchFamily="34" charset="0"/>
              </a:rPr>
              <a:t>TWO DAY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REACT</a:t>
            </a:r>
            <a:r>
              <a:rPr lang="en-US" sz="2000" b="1" dirty="0">
                <a:latin typeface="Aptos Black" panose="020B0004020202020204" pitchFamily="34" charset="0"/>
              </a:rPr>
              <a:t>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WORKSHOP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3008F1-2F6C-B7B4-DCF9-97663B894F0E}"/>
              </a:ext>
            </a:extLst>
          </p:cNvPr>
          <p:cNvSpPr txBox="1"/>
          <p:nvPr/>
        </p:nvSpPr>
        <p:spPr>
          <a:xfrm>
            <a:off x="7163615" y="735682"/>
            <a:ext cx="780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2026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E1A262-497E-CEEC-FC0D-3284B7C7EF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32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78D01E-3EB5-4927-7150-091356F7DC8F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D24ECD-0B12-C663-EEB0-0D48E07EB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A655A2-0751-2F54-51F7-B941C7242D9F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E89DD2-6DB9-207D-9788-EA47138ECD2E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2FD205B-7621-2E4A-BC6F-B8BCA9514C49}"/>
              </a:ext>
            </a:extLst>
          </p:cNvPr>
          <p:cNvSpPr txBox="1"/>
          <p:nvPr/>
        </p:nvSpPr>
        <p:spPr>
          <a:xfrm>
            <a:off x="246888" y="711791"/>
            <a:ext cx="3280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ptos Black" panose="020B0004020202020204" pitchFamily="34" charset="0"/>
              </a:rPr>
              <a:t>WORKSHOP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OUTLINE</a:t>
            </a:r>
            <a:endParaRPr lang="en-PH" sz="2400" dirty="0">
              <a:solidFill>
                <a:schemeClr val="tx1">
                  <a:lumMod val="50000"/>
                  <a:lumOff val="50000"/>
                </a:schemeClr>
              </a:solidFill>
              <a:latin typeface="Aptos Black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6328DC-C28E-A853-22AD-706485FA7C72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2B95A3F-6097-F673-6331-534A4F2FD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828860"/>
              </p:ext>
            </p:extLst>
          </p:nvPr>
        </p:nvGraphicFramePr>
        <p:xfrm>
          <a:off x="1075804" y="1173456"/>
          <a:ext cx="10040391" cy="5559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67329">
                  <a:extLst>
                    <a:ext uri="{9D8B030D-6E8A-4147-A177-3AD203B41FA5}">
                      <a16:colId xmlns:a16="http://schemas.microsoft.com/office/drawing/2014/main" val="1430106935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3768887015"/>
                    </a:ext>
                  </a:extLst>
                </a:gridCol>
                <a:gridCol w="3635621">
                  <a:extLst>
                    <a:ext uri="{9D8B030D-6E8A-4147-A177-3AD203B41FA5}">
                      <a16:colId xmlns:a16="http://schemas.microsoft.com/office/drawing/2014/main" val="3848216129"/>
                    </a:ext>
                  </a:extLst>
                </a:gridCol>
                <a:gridCol w="1338993">
                  <a:extLst>
                    <a:ext uri="{9D8B030D-6E8A-4147-A177-3AD203B41FA5}">
                      <a16:colId xmlns:a16="http://schemas.microsoft.com/office/drawing/2014/main" val="2593044736"/>
                    </a:ext>
                  </a:extLst>
                </a:gridCol>
              </a:tblGrid>
              <a:tr h="26822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DAY 1 (MARCH 15, 2026)</a:t>
                      </a:r>
                      <a:endParaRPr lang="en-PH" sz="1400" b="1" dirty="0"/>
                    </a:p>
                  </a:txBody>
                  <a:tcPr marL="130521" marR="130521" marT="65261" marB="652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ESTIMATED DURATION</a:t>
                      </a:r>
                      <a:endParaRPr lang="en-PH" sz="1400" b="1" dirty="0"/>
                    </a:p>
                  </a:txBody>
                  <a:tcPr marL="130521" marR="130521" marT="65261" marB="652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DAY 2 (MARCH 22, 2026)</a:t>
                      </a:r>
                      <a:endParaRPr lang="en-PH" sz="1400" b="1" dirty="0"/>
                    </a:p>
                  </a:txBody>
                  <a:tcPr marL="130521" marR="130521" marT="65261" marB="652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ESTIMATED DURATION</a:t>
                      </a:r>
                      <a:endParaRPr lang="en-PH" sz="1400" b="1" dirty="0"/>
                    </a:p>
                  </a:txBody>
                  <a:tcPr marL="130521" marR="130521" marT="65261" marB="65261" anchor="ctr"/>
                </a:tc>
                <a:extLst>
                  <a:ext uri="{0D108BD9-81ED-4DB2-BD59-A6C34878D82A}">
                    <a16:rowId xmlns:a16="http://schemas.microsoft.com/office/drawing/2014/main" val="4162735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 dirty="0"/>
                        <a:t>Environment Setup</a:t>
                      </a:r>
                      <a:endParaRPr lang="en-PH" sz="1100" b="1" i="1" dirty="0"/>
                    </a:p>
                  </a:txBody>
                  <a:tcPr marL="130521" marR="130521" marT="65261" marB="65261"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10 minutes</a:t>
                      </a:r>
                      <a:endParaRPr lang="en-PH" sz="1100" b="1" dirty="0"/>
                    </a:p>
                  </a:txBody>
                  <a:tcPr marL="130521" marR="130521" marT="65261" marB="6526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r>
                        <a:rPr lang="en-US" sz="1100" dirty="0"/>
                        <a:t>R</a:t>
                      </a:r>
                      <a:r>
                        <a:rPr lang="en-US" sz="1100" b="1" dirty="0"/>
                        <a:t>ecap of Day 1</a:t>
                      </a:r>
                      <a:endParaRPr lang="en-PH" sz="1100" b="1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5 minutes</a:t>
                      </a:r>
                      <a:endParaRPr lang="en-PH" sz="1100" b="1" dirty="0"/>
                    </a:p>
                  </a:txBody>
                  <a:tcPr marL="130521" marR="130521" marT="65261" marB="6526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549748"/>
                  </a:ext>
                </a:extLst>
              </a:tr>
              <a:tr h="165828">
                <a:tc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Installing Node.js &amp; Node Package Manager (NPM)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301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Creating your first React App (using Vite)</a:t>
                      </a:r>
                      <a:endParaRPr lang="en-PH" sz="1100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676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Organizing your project folder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603727"/>
                  </a:ext>
                </a:extLst>
              </a:tr>
              <a:tr h="223622">
                <a:tc>
                  <a:txBody>
                    <a:bodyPr/>
                    <a:lstStyle/>
                    <a:p>
                      <a:r>
                        <a:rPr lang="en-US" sz="1100" b="1" dirty="0"/>
                        <a:t>Introduction to React Application</a:t>
                      </a:r>
                      <a:endParaRPr lang="en-PH" sz="1100" b="1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30 minutes</a:t>
                      </a:r>
                      <a:endParaRPr lang="en-PH" sz="1100" b="1" dirty="0"/>
                    </a:p>
                  </a:txBody>
                  <a:tcPr marL="130521" marR="130521" marT="65261" marB="65261" anchor="ctr"/>
                </a:tc>
                <a:tc rowSpan="2">
                  <a:txBody>
                    <a:bodyPr/>
                    <a:lstStyle/>
                    <a:p>
                      <a:r>
                        <a:rPr lang="en-US" sz="1100" b="1" dirty="0"/>
                        <a:t>Environment Setup</a:t>
                      </a:r>
                      <a:endParaRPr lang="en-PH" sz="1100" b="1" i="1" dirty="0"/>
                    </a:p>
                  </a:txBody>
                  <a:tcPr marL="130521" marR="130521" marT="65261" marB="65261"/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10 minutes</a:t>
                      </a:r>
                      <a:endParaRPr lang="en-PH" sz="1100" b="1" dirty="0"/>
                    </a:p>
                  </a:txBody>
                  <a:tcPr marL="130521" marR="130521" marT="65261" marB="65261" anchor="ctr"/>
                </a:tc>
                <a:extLst>
                  <a:ext uri="{0D108BD9-81ED-4DB2-BD59-A6C34878D82A}">
                    <a16:rowId xmlns:a16="http://schemas.microsoft.com/office/drawing/2014/main" val="381049934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Writing your first React page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09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Initialization of a new package</a:t>
                      </a:r>
                      <a:endParaRPr lang="en-PH" sz="1100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995027"/>
                  </a:ext>
                </a:extLst>
              </a:tr>
              <a:tr h="149081">
                <a:tc rowSpan="2"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Understanding components</a:t>
                      </a:r>
                      <a:endParaRPr lang="en-PH" sz="1100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07848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Installing relevant node packages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588727"/>
                  </a:ext>
                </a:extLst>
              </a:tr>
              <a:tr h="223622">
                <a:tc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Event Handling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864439"/>
                  </a:ext>
                </a:extLst>
              </a:tr>
              <a:tr h="223622">
                <a:tc>
                  <a:txBody>
                    <a:bodyPr/>
                    <a:lstStyle/>
                    <a:p>
                      <a:r>
                        <a:rPr lang="en-US" sz="1100" b="1" dirty="0"/>
                        <a:t>Utilizing React Hooks</a:t>
                      </a:r>
                      <a:endParaRPr lang="en-PH" sz="1100" b="1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30 minutes</a:t>
                      </a:r>
                      <a:endParaRPr lang="en-PH" sz="1100" b="1" dirty="0"/>
                    </a:p>
                  </a:txBody>
                  <a:tcPr marL="130521" marR="130521" marT="65261" marB="6526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100" b="1" dirty="0"/>
                        <a:t>Backend Fundamentals</a:t>
                      </a:r>
                      <a:endParaRPr lang="en-PH" sz="1100" b="1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30 minutes</a:t>
                      </a:r>
                      <a:endParaRPr lang="en-PH" sz="1100" b="1" dirty="0"/>
                    </a:p>
                  </a:txBody>
                  <a:tcPr marL="130521" marR="130521" marT="65261" marB="6526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68099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Using </a:t>
                      </a:r>
                      <a:r>
                        <a:rPr lang="en-US" sz="1100" dirty="0" err="1"/>
                        <a:t>useStates</a:t>
                      </a:r>
                      <a:r>
                        <a:rPr lang="en-US" sz="1100" dirty="0"/>
                        <a:t> &amp; Conditional Rendering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4009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Setting up your first node server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205679"/>
                  </a:ext>
                </a:extLst>
              </a:tr>
              <a:tr h="149081">
                <a:tc rowSpan="2"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Using </a:t>
                      </a:r>
                      <a:r>
                        <a:rPr lang="en-US" sz="1100" dirty="0" err="1"/>
                        <a:t>useEffect</a:t>
                      </a:r>
                      <a:endParaRPr lang="en-PH" sz="1100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7999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API and REST fundamentals</a:t>
                      </a:r>
                      <a:endParaRPr lang="en-PH" sz="1100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972685"/>
                  </a:ext>
                </a:extLst>
              </a:tr>
              <a:tr h="223622">
                <a:tc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Other React Hooks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393093"/>
                  </a:ext>
                </a:extLst>
              </a:tr>
              <a:tr h="529335">
                <a:tc>
                  <a:txBody>
                    <a:bodyPr/>
                    <a:lstStyle/>
                    <a:p>
                      <a:r>
                        <a:rPr lang="en-US" sz="1100" b="1" dirty="0"/>
                        <a:t>Navigating using React Router</a:t>
                      </a:r>
                      <a:endParaRPr lang="en-PH" sz="1100" b="1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30 minutes</a:t>
                      </a:r>
                      <a:endParaRPr lang="en-PH" sz="1100" b="1" dirty="0"/>
                    </a:p>
                  </a:txBody>
                  <a:tcPr marL="130521" marR="130521" marT="65261" marB="65261"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Handling loading states, errors, and response data</a:t>
                      </a:r>
                      <a:endParaRPr lang="en-PH" sz="1100" b="1" i="1" dirty="0"/>
                    </a:p>
                  </a:txBody>
                  <a:tcPr marL="130521" marR="130521" marT="65261" marB="6526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30 minutes</a:t>
                      </a:r>
                      <a:endParaRPr lang="en-PH" sz="1100" b="1" dirty="0"/>
                    </a:p>
                  </a:txBody>
                  <a:tcPr marL="130521" marR="130521" marT="65261" marB="65261" anchor="ctr"/>
                </a:tc>
                <a:extLst>
                  <a:ext uri="{0D108BD9-81ED-4DB2-BD59-A6C34878D82A}">
                    <a16:rowId xmlns:a16="http://schemas.microsoft.com/office/drawing/2014/main" val="2159007117"/>
                  </a:ext>
                </a:extLst>
              </a:tr>
              <a:tr h="176445">
                <a:tc rowSpan="3">
                  <a:txBody>
                    <a:bodyPr/>
                    <a:lstStyle/>
                    <a:p>
                      <a:r>
                        <a:rPr lang="en-US" sz="1100" b="1" dirty="0"/>
                        <a:t>Getting user inputs using Forms</a:t>
                      </a:r>
                      <a:endParaRPr lang="en-PH" sz="1100" b="1" i="1" dirty="0"/>
                    </a:p>
                  </a:txBody>
                  <a:tcPr marL="130521" marR="130521" marT="65261" marB="65261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30 minutes</a:t>
                      </a:r>
                      <a:endParaRPr lang="en-PH" sz="1100" b="1" dirty="0"/>
                    </a:p>
                  </a:txBody>
                  <a:tcPr marL="130521" marR="130521" marT="65261" marB="6526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AuthN and </a:t>
                      </a:r>
                      <a:r>
                        <a:rPr lang="en-US" sz="1100" b="1" dirty="0" err="1"/>
                        <a:t>AuthZ</a:t>
                      </a:r>
                      <a:r>
                        <a:rPr lang="en-US" sz="1100" b="1" dirty="0"/>
                        <a:t> using JWT</a:t>
                      </a:r>
                      <a:endParaRPr lang="en-PH" sz="1100" b="1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~ 1 hour</a:t>
                      </a:r>
                      <a:endParaRPr lang="en-PH" sz="1100" b="1" dirty="0"/>
                    </a:p>
                  </a:txBody>
                  <a:tcPr marL="130521" marR="130521" marT="65261" marB="6526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972283"/>
                  </a:ext>
                </a:extLst>
              </a:tr>
              <a:tr h="176445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Authentication using JWT</a:t>
                      </a:r>
                      <a:endParaRPr lang="en-PH" sz="1100" i="1" dirty="0"/>
                    </a:p>
                  </a:txBody>
                  <a:tcPr marL="130521" marR="130521" marT="65261" marB="65261"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022200"/>
                  </a:ext>
                </a:extLst>
              </a:tr>
              <a:tr h="176445"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sz="1100" dirty="0"/>
                        <a:t>Protected Routes</a:t>
                      </a:r>
                      <a:endParaRPr lang="en-PH" sz="1100" i="1" dirty="0"/>
                    </a:p>
                  </a:txBody>
                  <a:tcPr marL="130521" marR="130521" marT="65261" marB="65261"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P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240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809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0F827-7F16-DC13-82A0-803417A63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E05A5E-C496-4A02-45C3-0EC1D6865018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AE67B1-87D0-EE27-DDA9-D249E4513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9E82FE-BE66-CF92-1623-A6A85A92F47E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E5594A-EB5C-F5E1-D38F-7754C97403F5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AA24F83-54CB-80A9-ABEC-009F3A9F7CE2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1D90C-E91F-5E52-FD23-6BBBC224D46B}"/>
              </a:ext>
            </a:extLst>
          </p:cNvPr>
          <p:cNvSpPr txBox="1"/>
          <p:nvPr/>
        </p:nvSpPr>
        <p:spPr>
          <a:xfrm>
            <a:off x="10938914" y="6292889"/>
            <a:ext cx="1146596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DAY 1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744837-E86C-BDFA-7770-68AA7A62ACB7}"/>
              </a:ext>
            </a:extLst>
          </p:cNvPr>
          <p:cNvSpPr txBox="1"/>
          <p:nvPr/>
        </p:nvSpPr>
        <p:spPr>
          <a:xfrm>
            <a:off x="182907" y="731520"/>
            <a:ext cx="38964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ENVIRONMENT 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SETUP</a:t>
            </a:r>
            <a:endParaRPr lang="en-PH" sz="2800" dirty="0">
              <a:solidFill>
                <a:schemeClr val="tx1">
                  <a:lumMod val="50000"/>
                  <a:lumOff val="50000"/>
                </a:schemeClr>
              </a:solidFill>
              <a:latin typeface="Aptos Black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BB7431-18D9-CD58-6E46-D48757284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66" y="1700784"/>
            <a:ext cx="5188758" cy="46092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515548-4182-273E-CD16-2E0DB268647B}"/>
              </a:ext>
            </a:extLst>
          </p:cNvPr>
          <p:cNvSpPr txBox="1"/>
          <p:nvPr/>
        </p:nvSpPr>
        <p:spPr>
          <a:xfrm>
            <a:off x="6263910" y="1469951"/>
            <a:ext cx="520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ptos Black" panose="020B0004020202020204" pitchFamily="34" charset="0"/>
              </a:rPr>
              <a:t>MINIMUM SYSTEM REQUIREMENTS</a:t>
            </a:r>
            <a:endParaRPr lang="en-PH" sz="2400" dirty="0">
              <a:latin typeface="Aptos Black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11F678-A46D-E08B-E5B8-D56DFD8D24CE}"/>
              </a:ext>
            </a:extLst>
          </p:cNvPr>
          <p:cNvSpPr txBox="1"/>
          <p:nvPr/>
        </p:nvSpPr>
        <p:spPr>
          <a:xfrm>
            <a:off x="6403350" y="1925574"/>
            <a:ext cx="4834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are the minimum system requirements: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At least </a:t>
            </a:r>
            <a:r>
              <a:rPr lang="en-US" b="1" dirty="0"/>
              <a:t>8 GB </a:t>
            </a:r>
            <a:r>
              <a:rPr lang="en-US" dirty="0"/>
              <a:t>of RAM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b="1" dirty="0"/>
              <a:t>Substantial </a:t>
            </a:r>
            <a:r>
              <a:rPr lang="en-PH" dirty="0"/>
              <a:t>amount of Storage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b="1" dirty="0"/>
              <a:t>Substantial </a:t>
            </a:r>
            <a:r>
              <a:rPr lang="en-PH" dirty="0"/>
              <a:t>CPU</a:t>
            </a:r>
            <a:endParaRPr lang="en-PH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95918-D0E0-81D0-6BF3-9838CDF4B579}"/>
              </a:ext>
            </a:extLst>
          </p:cNvPr>
          <p:cNvSpPr txBox="1"/>
          <p:nvPr/>
        </p:nvSpPr>
        <p:spPr>
          <a:xfrm>
            <a:off x="6403350" y="3501265"/>
            <a:ext cx="4174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ptos Black" panose="020B0004020202020204" pitchFamily="34" charset="0"/>
              </a:rPr>
              <a:t>INSTALLED APPLICATIONS:</a:t>
            </a:r>
            <a:endParaRPr lang="en-PH" sz="2400" dirty="0">
              <a:latin typeface="Aptos Black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6D3BDA-DD7A-38DD-7AA4-887A95811719}"/>
              </a:ext>
            </a:extLst>
          </p:cNvPr>
          <p:cNvSpPr txBox="1"/>
          <p:nvPr/>
        </p:nvSpPr>
        <p:spPr>
          <a:xfrm>
            <a:off x="6403350" y="3969176"/>
            <a:ext cx="546556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Node JS - </a:t>
            </a:r>
            <a:r>
              <a:rPr lang="en-US" dirty="0">
                <a:hlinkClick r:id="rId4"/>
              </a:rPr>
              <a:t>https://nodejs.org/en/download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Preferred Text Editor (i.e. Sublime Text, VS Code, etc.)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dirty="0"/>
              <a:t>Preferred Browser (i.e. Google Chrome, Firefox,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PH" dirty="0"/>
          </a:p>
          <a:p>
            <a:r>
              <a:rPr lang="en-PH" dirty="0"/>
              <a:t>Optionally: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dirty="0"/>
              <a:t>Docker for Windows - </a:t>
            </a:r>
            <a:r>
              <a:rPr lang="en-PH" dirty="0">
                <a:hlinkClick r:id="rId5"/>
              </a:rPr>
              <a:t>https://www.docker.com/</a:t>
            </a:r>
            <a:endParaRPr lang="en-PH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dirty="0"/>
              <a:t>Git - </a:t>
            </a:r>
            <a:r>
              <a:rPr lang="en-PH" dirty="0">
                <a:hlinkClick r:id="rId6"/>
              </a:rPr>
              <a:t>https://git-scm.com/install/windows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12288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52226-7FC8-63B9-F375-B607C46FC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FB2CA9-0A88-24B9-6728-E6D798E62326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6555B1-C0B2-BC1C-FACF-A9A1FA043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9D4020-A135-68BD-6ECD-4EF34BD87021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0F457D3-D355-74F1-3AA7-82033A86F1EE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B7E0BDA-B78A-56F4-3032-2F20EA0FA9D5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86308-6B04-A4A2-2A42-853E45C3107F}"/>
              </a:ext>
            </a:extLst>
          </p:cNvPr>
          <p:cNvSpPr txBox="1"/>
          <p:nvPr/>
        </p:nvSpPr>
        <p:spPr>
          <a:xfrm>
            <a:off x="10938914" y="6204382"/>
            <a:ext cx="1146596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DAY 1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38129-4BE4-B145-4DBB-9D479CEC397F}"/>
              </a:ext>
            </a:extLst>
          </p:cNvPr>
          <p:cNvSpPr txBox="1"/>
          <p:nvPr/>
        </p:nvSpPr>
        <p:spPr>
          <a:xfrm>
            <a:off x="182907" y="731520"/>
            <a:ext cx="38964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ENVIRONMENT 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SETUP</a:t>
            </a:r>
            <a:endParaRPr lang="en-PH" sz="2800" dirty="0">
              <a:solidFill>
                <a:schemeClr val="tx1">
                  <a:lumMod val="50000"/>
                  <a:lumOff val="50000"/>
                </a:schemeClr>
              </a:solidFill>
              <a:latin typeface="Aptos Black" panose="020B00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FEFD236-A82E-27B0-0FE3-A28BE1A01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07" y="1701450"/>
            <a:ext cx="8519876" cy="422385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4594AAF-9D61-CDC8-6BD2-F4CE34BA62A1}"/>
              </a:ext>
            </a:extLst>
          </p:cNvPr>
          <p:cNvSpPr txBox="1"/>
          <p:nvPr/>
        </p:nvSpPr>
        <p:spPr>
          <a:xfrm>
            <a:off x="9040780" y="1952074"/>
            <a:ext cx="2601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INSTALLATION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CA30C4-D106-2D99-FE5E-DF4A05D409C0}"/>
              </a:ext>
            </a:extLst>
          </p:cNvPr>
          <p:cNvSpPr txBox="1"/>
          <p:nvPr/>
        </p:nvSpPr>
        <p:spPr>
          <a:xfrm>
            <a:off x="9093756" y="2520716"/>
            <a:ext cx="284680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Go to </a:t>
            </a:r>
            <a:r>
              <a:rPr lang="en-US" dirty="0">
                <a:hlinkClick r:id="rId4"/>
              </a:rPr>
              <a:t>https://nodejs.org/en/download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your </a:t>
            </a:r>
            <a:r>
              <a:rPr lang="en-US" b="1" dirty="0"/>
              <a:t>OS </a:t>
            </a:r>
            <a:r>
              <a:rPr lang="en-US" dirty="0"/>
              <a:t>and your </a:t>
            </a:r>
            <a:r>
              <a:rPr lang="en-US" b="1" dirty="0"/>
              <a:t>Architecture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the </a:t>
            </a:r>
            <a:r>
              <a:rPr lang="en-US" b="1" dirty="0"/>
              <a:t>Installer Download </a:t>
            </a:r>
            <a:r>
              <a:rPr lang="en-US" dirty="0"/>
              <a:t>button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Follow the installation instruction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3BA5A1-1231-DD87-6436-28211F205FBC}"/>
              </a:ext>
            </a:extLst>
          </p:cNvPr>
          <p:cNvSpPr txBox="1"/>
          <p:nvPr/>
        </p:nvSpPr>
        <p:spPr>
          <a:xfrm>
            <a:off x="182907" y="5957489"/>
            <a:ext cx="6727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/>
              <a:t>Tip: To verify successful installation, run in the terminal </a:t>
            </a:r>
            <a:r>
              <a:rPr lang="en-US" sz="1600" b="1" i="1" dirty="0">
                <a:highlight>
                  <a:srgbClr val="FFFF00"/>
                </a:highlight>
              </a:rPr>
              <a:t>node -v </a:t>
            </a:r>
            <a:r>
              <a:rPr lang="en-US" sz="1600" i="1" dirty="0"/>
              <a:t>and </a:t>
            </a:r>
            <a:r>
              <a:rPr lang="en-US" sz="1600" b="1" i="1" dirty="0" err="1">
                <a:highlight>
                  <a:srgbClr val="FFFF00"/>
                </a:highlight>
              </a:rPr>
              <a:t>npm</a:t>
            </a:r>
            <a:r>
              <a:rPr lang="en-US" sz="1600" b="1" i="1" dirty="0">
                <a:highlight>
                  <a:srgbClr val="FFFF00"/>
                </a:highlight>
              </a:rPr>
              <a:t> -v</a:t>
            </a:r>
            <a:endParaRPr lang="en-PH" sz="1600" b="1" i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42059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47D66-0386-CB65-0168-6F302B0DA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2FA1CA-0290-1296-6263-F99FDC3499BF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1DB38-D529-01A5-C73A-2B6A35E6F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137E2-2791-5957-E267-F13B8998F194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F02A5B-2E76-B210-3D28-672577518442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2FF0767-62F6-12B5-E781-325D1C44C91D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41FD44-A264-A798-18C7-055B6C2992F0}"/>
              </a:ext>
            </a:extLst>
          </p:cNvPr>
          <p:cNvSpPr txBox="1"/>
          <p:nvPr/>
        </p:nvSpPr>
        <p:spPr>
          <a:xfrm>
            <a:off x="10938914" y="6204382"/>
            <a:ext cx="1146596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DAY 1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E0647-F1C0-9115-FBF2-6CAAE1E8D7BF}"/>
              </a:ext>
            </a:extLst>
          </p:cNvPr>
          <p:cNvSpPr txBox="1"/>
          <p:nvPr/>
        </p:nvSpPr>
        <p:spPr>
          <a:xfrm>
            <a:off x="182907" y="731520"/>
            <a:ext cx="38964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ENVIRONMENT 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SETUP</a:t>
            </a:r>
            <a:endParaRPr lang="en-PH" sz="2800" dirty="0">
              <a:solidFill>
                <a:schemeClr val="tx1">
                  <a:lumMod val="50000"/>
                  <a:lumOff val="50000"/>
                </a:schemeClr>
              </a:solidFill>
              <a:latin typeface="Aptos Black" panose="020B00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1B6FD3-E915-3507-F388-3AC6A6B4F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36" y="1417037"/>
            <a:ext cx="6477904" cy="504895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EB07BD-B03E-2CFB-5C32-6B384F80C8CB}"/>
              </a:ext>
            </a:extLst>
          </p:cNvPr>
          <p:cNvSpPr txBox="1"/>
          <p:nvPr/>
        </p:nvSpPr>
        <p:spPr>
          <a:xfrm>
            <a:off x="7336371" y="1650638"/>
            <a:ext cx="39850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CREATING YOUR FIRST</a:t>
            </a:r>
          </a:p>
          <a:p>
            <a:r>
              <a:rPr lang="en-US" sz="2800" dirty="0">
                <a:latin typeface="Aptos Black" panose="020B0004020202020204" pitchFamily="34" charset="0"/>
              </a:rPr>
              <a:t>REACT PROJECT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A981FE-F552-67A2-A6BA-9375B94B222D}"/>
              </a:ext>
            </a:extLst>
          </p:cNvPr>
          <p:cNvSpPr txBox="1"/>
          <p:nvPr/>
        </p:nvSpPr>
        <p:spPr>
          <a:xfrm>
            <a:off x="7369296" y="2721781"/>
            <a:ext cx="41513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Run </a:t>
            </a:r>
            <a:r>
              <a:rPr lang="en-US" b="1" i="1" dirty="0" err="1"/>
              <a:t>npx</a:t>
            </a:r>
            <a:r>
              <a:rPr lang="en-US" b="1" i="1" dirty="0"/>
              <a:t> </a:t>
            </a:r>
            <a:r>
              <a:rPr lang="en-US" b="1" i="1" dirty="0" err="1"/>
              <a:t>create-vite@latest</a:t>
            </a:r>
            <a:r>
              <a:rPr lang="en-US" i="1" dirty="0"/>
              <a:t> </a:t>
            </a:r>
            <a:r>
              <a:rPr lang="en-US" dirty="0"/>
              <a:t>command in your terminal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Name your </a:t>
            </a:r>
            <a:r>
              <a:rPr lang="en-US" b="1" dirty="0"/>
              <a:t>First Project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Name your </a:t>
            </a:r>
            <a:r>
              <a:rPr lang="en-US" b="1" dirty="0"/>
              <a:t>Package</a:t>
            </a:r>
            <a:r>
              <a:rPr lang="en-US" dirty="0"/>
              <a:t> (or just press </a:t>
            </a:r>
            <a:r>
              <a:rPr lang="en-US" b="1" dirty="0"/>
              <a:t>Enter</a:t>
            </a:r>
            <a:r>
              <a:rPr lang="en-US" dirty="0"/>
              <a:t> to skip it)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your preferred variant (Recommended: </a:t>
            </a:r>
            <a:r>
              <a:rPr lang="en-US" b="1" dirty="0"/>
              <a:t>Typescript + SWC</a:t>
            </a:r>
            <a:r>
              <a:rPr lang="en-US" dirty="0"/>
              <a:t>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b="1" dirty="0"/>
              <a:t>DON’T</a:t>
            </a:r>
            <a:r>
              <a:rPr lang="en-PH" dirty="0"/>
              <a:t> use Vite 8 beta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dirty="0"/>
              <a:t>You can optionally skip installation and start (Recommended: </a:t>
            </a:r>
            <a:r>
              <a:rPr lang="en-PH" b="1" dirty="0"/>
              <a:t>No</a:t>
            </a:r>
            <a:r>
              <a:rPr lang="en-PH" dirty="0"/>
              <a:t>)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CB3C888-A7E1-150E-8EF3-E74E429B0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964" y="1254740"/>
            <a:ext cx="2634935" cy="3511577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AE3CB3-1ADB-83EE-BCF5-EE09CCEB9FEA}"/>
              </a:ext>
            </a:extLst>
          </p:cNvPr>
          <p:cNvSpPr txBox="1"/>
          <p:nvPr/>
        </p:nvSpPr>
        <p:spPr>
          <a:xfrm>
            <a:off x="4424964" y="4550873"/>
            <a:ext cx="15055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/>
              <a:t>Credits to: </a:t>
            </a:r>
            <a:r>
              <a:rPr lang="en-US" sz="800" i="1" dirty="0">
                <a:hlinkClick r:id="rId5"/>
              </a:rPr>
              <a:t>Coding with Parvez</a:t>
            </a:r>
            <a:endParaRPr lang="en-PH" sz="800" i="1" dirty="0"/>
          </a:p>
        </p:txBody>
      </p:sp>
    </p:spTree>
    <p:extLst>
      <p:ext uri="{BB962C8B-B14F-4D97-AF65-F5344CB8AC3E}">
        <p14:creationId xmlns:p14="http://schemas.microsoft.com/office/powerpoint/2010/main" val="366157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D73EC-773C-E1C5-C396-D540D7F51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AB16C2-EE0B-4388-D1FC-CDB67C0995EA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25A2D7-4E9A-0F14-A992-EE0FB9535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33E9C2-272B-12E8-FCAC-DB41D7DDC1B7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77C957-7049-8008-CE53-BA8EEEB65091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465752-D197-BD5E-AE28-DE383ACFEBF5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B4696B-B6E1-FAF1-6CFC-582F4170A017}"/>
              </a:ext>
            </a:extLst>
          </p:cNvPr>
          <p:cNvSpPr txBox="1"/>
          <p:nvPr/>
        </p:nvSpPr>
        <p:spPr>
          <a:xfrm>
            <a:off x="10938914" y="6204382"/>
            <a:ext cx="1146596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DAY 1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EE4CA5-5E9B-A106-636A-FF3A52D2DD29}"/>
              </a:ext>
            </a:extLst>
          </p:cNvPr>
          <p:cNvSpPr txBox="1"/>
          <p:nvPr/>
        </p:nvSpPr>
        <p:spPr>
          <a:xfrm>
            <a:off x="182907" y="731520"/>
            <a:ext cx="38964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ENVIRONMENT 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ptos Black" panose="020B0004020202020204" pitchFamily="34" charset="0"/>
              </a:rPr>
              <a:t>SETUP</a:t>
            </a:r>
            <a:endParaRPr lang="en-PH" sz="2800" dirty="0">
              <a:solidFill>
                <a:schemeClr val="tx1">
                  <a:lumMod val="50000"/>
                  <a:lumOff val="50000"/>
                </a:schemeClr>
              </a:solidFill>
              <a:latin typeface="Aptos Black" panose="020B0004020202020204" pitchFamily="34" charset="0"/>
            </a:endParaRP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4453CCBD-DF92-482E-A581-BDFA6A7A0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339" y="1276251"/>
            <a:ext cx="4307491" cy="53426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D808A9A-60E5-76B4-D4CF-6D5A3032CF69}"/>
              </a:ext>
            </a:extLst>
          </p:cNvPr>
          <p:cNvSpPr txBox="1"/>
          <p:nvPr/>
        </p:nvSpPr>
        <p:spPr>
          <a:xfrm>
            <a:off x="426339" y="6400087"/>
            <a:ext cx="18389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Credits to: </a:t>
            </a:r>
            <a:r>
              <a:rPr lang="en-US" sz="1000" i="1" dirty="0">
                <a:hlinkClick r:id="rId4"/>
              </a:rPr>
              <a:t>Coding with Parvez</a:t>
            </a:r>
            <a:endParaRPr lang="en-PH" sz="1000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1B6BD1-303D-6E91-6057-7CC820BC0256}"/>
              </a:ext>
            </a:extLst>
          </p:cNvPr>
          <p:cNvSpPr txBox="1"/>
          <p:nvPr/>
        </p:nvSpPr>
        <p:spPr>
          <a:xfrm>
            <a:off x="5288185" y="1370480"/>
            <a:ext cx="5209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PROJECT FOLDER STRUCTURE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55FC44-78F1-2EEA-E2D9-5C9744BE84BD}"/>
              </a:ext>
            </a:extLst>
          </p:cNvPr>
          <p:cNvSpPr txBox="1"/>
          <p:nvPr/>
        </p:nvSpPr>
        <p:spPr>
          <a:xfrm>
            <a:off x="5308878" y="1893700"/>
            <a:ext cx="63040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b="1" i="1" dirty="0"/>
              <a:t>components/  </a:t>
            </a:r>
            <a:r>
              <a:rPr lang="en-PH" dirty="0"/>
              <a:t>- contains your </a:t>
            </a:r>
            <a:r>
              <a:rPr lang="en-PH" b="1" dirty="0"/>
              <a:t>React Components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b="1" i="1" dirty="0"/>
              <a:t>pages/</a:t>
            </a:r>
            <a:r>
              <a:rPr lang="en-PH" i="1" dirty="0"/>
              <a:t> - </a:t>
            </a:r>
            <a:r>
              <a:rPr lang="en-PH" dirty="0"/>
              <a:t>stores your </a:t>
            </a:r>
            <a:r>
              <a:rPr lang="en-PH" b="1" dirty="0"/>
              <a:t>Pages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PH" b="1" i="1" dirty="0"/>
              <a:t>assets/ </a:t>
            </a:r>
            <a:r>
              <a:rPr lang="en-PH" dirty="0"/>
              <a:t>-</a:t>
            </a:r>
            <a:r>
              <a:rPr lang="en-PH" b="1" i="1" dirty="0"/>
              <a:t> </a:t>
            </a:r>
            <a:r>
              <a:rPr lang="en-PH" dirty="0"/>
              <a:t>contains all your images and other file formats (i.e. Font Files)</a:t>
            </a:r>
          </a:p>
          <a:p>
            <a:endParaRPr lang="en-PH" dirty="0"/>
          </a:p>
          <a:p>
            <a:r>
              <a:rPr lang="en-PH" i="1" dirty="0"/>
              <a:t>Note: This is what typically project folder look like on small / micro sites (i.e. Personal Websites, etc.)</a:t>
            </a:r>
          </a:p>
        </p:txBody>
      </p:sp>
    </p:spTree>
    <p:extLst>
      <p:ext uri="{BB962C8B-B14F-4D97-AF65-F5344CB8AC3E}">
        <p14:creationId xmlns:p14="http://schemas.microsoft.com/office/powerpoint/2010/main" val="1022603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61C00-E8C7-A658-09EA-B0074A52D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57C7ED-803B-6DFC-89B8-F22463921686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4C4B95-31DB-8641-00B2-1DB84E206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A4AF9B-C4E7-B12C-2B55-341602909505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1D149E-7E42-47A2-15E8-2B09FAF70A95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4B9B902-F7F1-7958-FF93-2BCA4A8E7E65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2A9BCF-A4E5-C158-C672-531287BE9F41}"/>
              </a:ext>
            </a:extLst>
          </p:cNvPr>
          <p:cNvSpPr txBox="1"/>
          <p:nvPr/>
        </p:nvSpPr>
        <p:spPr>
          <a:xfrm>
            <a:off x="10938914" y="6204382"/>
            <a:ext cx="1146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DAY 1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66CCBC-78D6-7F6B-BB2B-E3C40584933E}"/>
              </a:ext>
            </a:extLst>
          </p:cNvPr>
          <p:cNvSpPr txBox="1"/>
          <p:nvPr/>
        </p:nvSpPr>
        <p:spPr>
          <a:xfrm>
            <a:off x="246888" y="713232"/>
            <a:ext cx="7162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ptos Black" panose="020B0004020202020204" pitchFamily="34" charset="0"/>
              </a:rPr>
              <a:t>HANDS-ON </a:t>
            </a:r>
            <a:r>
              <a:rPr lang="en-US" sz="3600" dirty="0">
                <a:solidFill>
                  <a:schemeClr val="bg1">
                    <a:lumMod val="75000"/>
                  </a:schemeClr>
                </a:solidFill>
                <a:latin typeface="Aptos Black" panose="020B0004020202020204" pitchFamily="34" charset="0"/>
              </a:rPr>
              <a:t>REACT APPLICATION</a:t>
            </a:r>
            <a:endParaRPr lang="en-PH" sz="3600" dirty="0">
              <a:solidFill>
                <a:schemeClr val="bg1">
                  <a:lumMod val="75000"/>
                </a:schemeClr>
              </a:solidFill>
              <a:latin typeface="Aptos Black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8F5F91-B78A-F2B6-4A7D-CFBA8A9E4C71}"/>
              </a:ext>
            </a:extLst>
          </p:cNvPr>
          <p:cNvSpPr txBox="1"/>
          <p:nvPr/>
        </p:nvSpPr>
        <p:spPr>
          <a:xfrm>
            <a:off x="246888" y="1272349"/>
            <a:ext cx="442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ptos Black" panose="020B0004020202020204" pitchFamily="34" charset="0"/>
              </a:rPr>
              <a:t>CODE WORKSHOP (FRONTEND) – DAY 1</a:t>
            </a:r>
            <a:endParaRPr lang="en-PH" dirty="0">
              <a:solidFill>
                <a:schemeClr val="tx2">
                  <a:lumMod val="75000"/>
                  <a:lumOff val="25000"/>
                </a:schemeClr>
              </a:solidFill>
              <a:latin typeface="Aptos Black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E86C3E-2782-E08B-7903-982629BAF934}"/>
              </a:ext>
            </a:extLst>
          </p:cNvPr>
          <p:cNvCxnSpPr>
            <a:cxnSpLocks/>
          </p:cNvCxnSpPr>
          <p:nvPr/>
        </p:nvCxnSpPr>
        <p:spPr>
          <a:xfrm>
            <a:off x="246888" y="1669196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D0D2956-07DC-0AFD-DB06-6DABBA564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0" y="1410730"/>
            <a:ext cx="3584448" cy="201827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EE6C21A-A44E-E265-30EF-42189EF174D2}"/>
              </a:ext>
            </a:extLst>
          </p:cNvPr>
          <p:cNvSpPr txBox="1"/>
          <p:nvPr/>
        </p:nvSpPr>
        <p:spPr>
          <a:xfrm>
            <a:off x="828675" y="3111269"/>
            <a:ext cx="10107740" cy="2746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Pre-requisites: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Knows HTMLS / CSS / JavaScript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Familiar with TypeScript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dirty="0"/>
              <a:t>Any preferred Text/Code Editors (e.g. VS Code </a:t>
            </a:r>
            <a:r>
              <a:rPr lang="en-PH" b="1" dirty="0"/>
              <a:t>[RECOMMENDED]</a:t>
            </a:r>
            <a:r>
              <a:rPr lang="en-PH" dirty="0"/>
              <a:t>, Notepad++, </a:t>
            </a:r>
            <a:r>
              <a:rPr lang="en-PH" dirty="0" err="1"/>
              <a:t>Neovim</a:t>
            </a:r>
            <a:r>
              <a:rPr lang="en-PH" dirty="0"/>
              <a:t>,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dirty="0"/>
              <a:t>Node JS &amp; Node Package Manager (NPM)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PH" dirty="0"/>
              <a:t>Terminal (e.g. </a:t>
            </a:r>
            <a:r>
              <a:rPr lang="en-PH" dirty="0" err="1"/>
              <a:t>Gitbash</a:t>
            </a:r>
            <a:r>
              <a:rPr lang="en-PH" dirty="0"/>
              <a:t>,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PH" dirty="0"/>
          </a:p>
          <a:p>
            <a:r>
              <a:rPr lang="en-US" sz="1050" i="1" dirty="0"/>
              <a:t>Note: most developers use </a:t>
            </a:r>
            <a:r>
              <a:rPr lang="en-US" sz="1050" b="1" i="1" dirty="0"/>
              <a:t>Node Version Manager (NVM) </a:t>
            </a:r>
            <a:r>
              <a:rPr lang="en-US" sz="1050" i="1" dirty="0"/>
              <a:t>to install Node JS &amp; Node Package Manager.</a:t>
            </a:r>
            <a:endParaRPr lang="en-PH" sz="1050" i="1" dirty="0"/>
          </a:p>
        </p:txBody>
      </p:sp>
    </p:spTree>
    <p:extLst>
      <p:ext uri="{BB962C8B-B14F-4D97-AF65-F5344CB8AC3E}">
        <p14:creationId xmlns:p14="http://schemas.microsoft.com/office/powerpoint/2010/main" val="4245684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26461-778A-D3E5-4C48-F2168536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97854A-CE4E-6AF6-115B-F2D2A7520779}"/>
              </a:ext>
            </a:extLst>
          </p:cNvPr>
          <p:cNvSpPr txBox="1"/>
          <p:nvPr/>
        </p:nvSpPr>
        <p:spPr>
          <a:xfrm>
            <a:off x="106490" y="126682"/>
            <a:ext cx="1444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REACT WORKSHOP</a:t>
            </a:r>
            <a:endParaRPr lang="en-PH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AFE6DE-0FFF-C26C-5D15-0A04DB0D0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222" y="130398"/>
            <a:ext cx="780288" cy="723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BA651D-65F0-920F-F16A-DB173828EF1C}"/>
              </a:ext>
            </a:extLst>
          </p:cNvPr>
          <p:cNvSpPr txBox="1"/>
          <p:nvPr/>
        </p:nvSpPr>
        <p:spPr>
          <a:xfrm>
            <a:off x="4079358" y="126682"/>
            <a:ext cx="403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j-lt"/>
              </a:rPr>
              <a:t>REACT ESSENTIALS:</a:t>
            </a:r>
          </a:p>
          <a:p>
            <a:pPr algn="ctr"/>
            <a:r>
              <a:rPr lang="en-US" sz="1200" b="1" dirty="0">
                <a:latin typeface="+mj-lt"/>
              </a:rPr>
              <a:t>BUILDING INTERACTIVE WEB APPLICATIONS WITH APIs</a:t>
            </a:r>
            <a:endParaRPr lang="en-PH" sz="1200" b="1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850B5F-43D9-274F-3461-4D4431D3FF5D}"/>
              </a:ext>
            </a:extLst>
          </p:cNvPr>
          <p:cNvCxnSpPr>
            <a:cxnSpLocks/>
          </p:cNvCxnSpPr>
          <p:nvPr/>
        </p:nvCxnSpPr>
        <p:spPr>
          <a:xfrm>
            <a:off x="246888" y="615779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674A659-C195-214E-9BBF-2DAFCC8F51BE}"/>
              </a:ext>
            </a:extLst>
          </p:cNvPr>
          <p:cNvSpPr txBox="1"/>
          <p:nvPr/>
        </p:nvSpPr>
        <p:spPr>
          <a:xfrm>
            <a:off x="9328872" y="129474"/>
            <a:ext cx="20254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First City Providential College </a:t>
            </a:r>
            <a:endParaRPr lang="en-PH" sz="1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D3856-8DB3-D3B9-2C2B-6DA613710F05}"/>
              </a:ext>
            </a:extLst>
          </p:cNvPr>
          <p:cNvSpPr txBox="1"/>
          <p:nvPr/>
        </p:nvSpPr>
        <p:spPr>
          <a:xfrm>
            <a:off x="10938914" y="6204382"/>
            <a:ext cx="1146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Black" panose="020B0004020202020204" pitchFamily="34" charset="0"/>
              </a:rPr>
              <a:t>DAY 1</a:t>
            </a:r>
            <a:endParaRPr lang="en-PH" sz="2800" dirty="0">
              <a:latin typeface="Aptos Black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1718C8-A437-31BB-767C-53F56EBACDF0}"/>
              </a:ext>
            </a:extLst>
          </p:cNvPr>
          <p:cNvSpPr txBox="1"/>
          <p:nvPr/>
        </p:nvSpPr>
        <p:spPr>
          <a:xfrm>
            <a:off x="246888" y="713232"/>
            <a:ext cx="7162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ptos Black" panose="020B0004020202020204" pitchFamily="34" charset="0"/>
              </a:rPr>
              <a:t>HANDS-ON </a:t>
            </a:r>
            <a:r>
              <a:rPr lang="en-US" sz="3600" dirty="0">
                <a:solidFill>
                  <a:schemeClr val="bg1">
                    <a:lumMod val="75000"/>
                  </a:schemeClr>
                </a:solidFill>
                <a:latin typeface="Aptos Black" panose="020B0004020202020204" pitchFamily="34" charset="0"/>
              </a:rPr>
              <a:t>REACT APPLICATION</a:t>
            </a:r>
            <a:endParaRPr lang="en-PH" sz="3600" dirty="0">
              <a:solidFill>
                <a:schemeClr val="bg1">
                  <a:lumMod val="75000"/>
                </a:schemeClr>
              </a:solidFill>
              <a:latin typeface="Aptos Black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2F2E04-200A-83F7-AA3A-027B649FA331}"/>
              </a:ext>
            </a:extLst>
          </p:cNvPr>
          <p:cNvSpPr txBox="1"/>
          <p:nvPr/>
        </p:nvSpPr>
        <p:spPr>
          <a:xfrm>
            <a:off x="246888" y="1272349"/>
            <a:ext cx="442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ptos Black" panose="020B0004020202020204" pitchFamily="34" charset="0"/>
              </a:rPr>
              <a:t>CODE WORKSHOP (FRONTEND) – DAY 1</a:t>
            </a:r>
            <a:endParaRPr lang="en-PH" dirty="0">
              <a:solidFill>
                <a:schemeClr val="tx2">
                  <a:lumMod val="75000"/>
                  <a:lumOff val="25000"/>
                </a:schemeClr>
              </a:solidFill>
              <a:latin typeface="Aptos Black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94FE33-12BC-031B-5E9F-D1BC85DDF19F}"/>
              </a:ext>
            </a:extLst>
          </p:cNvPr>
          <p:cNvCxnSpPr>
            <a:cxnSpLocks/>
          </p:cNvCxnSpPr>
          <p:nvPr/>
        </p:nvCxnSpPr>
        <p:spPr>
          <a:xfrm>
            <a:off x="246888" y="1669196"/>
            <a:ext cx="10991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BA81590E-7B11-B7CE-E149-FDA164608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0" y="1410730"/>
            <a:ext cx="3584448" cy="20182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A6C33B-5758-4A9A-CBFE-B963F6A33DA2}"/>
              </a:ext>
            </a:extLst>
          </p:cNvPr>
          <p:cNvSpPr txBox="1"/>
          <p:nvPr/>
        </p:nvSpPr>
        <p:spPr>
          <a:xfrm>
            <a:off x="5890674" y="2966846"/>
            <a:ext cx="64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Please do note that our activity is </a:t>
            </a:r>
            <a:r>
              <a:rPr lang="en-US" b="1" dirty="0"/>
              <a:t>open</a:t>
            </a:r>
            <a:r>
              <a:rPr lang="en-US" dirty="0"/>
              <a:t> and </a:t>
            </a:r>
            <a:r>
              <a:rPr lang="en-US" b="1" dirty="0"/>
              <a:t>free</a:t>
            </a:r>
            <a:r>
              <a:rPr lang="en-US" dirty="0"/>
              <a:t> to download.</a:t>
            </a:r>
            <a:r>
              <a:rPr lang="en-PH" dirty="0"/>
              <a:t> Everything you need will be in this </a:t>
            </a:r>
            <a:r>
              <a:rPr lang="en-PH" dirty="0" err="1"/>
              <a:t>github</a:t>
            </a:r>
            <a:r>
              <a:rPr lang="en-PH" dirty="0"/>
              <a:t> repository:</a:t>
            </a:r>
          </a:p>
          <a:p>
            <a:endParaRPr lang="en-PH" dirty="0"/>
          </a:p>
          <a:p>
            <a:r>
              <a:rPr lang="en-US" dirty="0">
                <a:hlinkClick r:id="rId4"/>
              </a:rPr>
              <a:t>https://github.com/Cpm-X-Dev/ViteReactDemo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Clone command: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AA4CB0-8B5A-0C06-5752-69EEFB0B4445}"/>
              </a:ext>
            </a:extLst>
          </p:cNvPr>
          <p:cNvSpPr txBox="1"/>
          <p:nvPr/>
        </p:nvSpPr>
        <p:spPr>
          <a:xfrm>
            <a:off x="5918106" y="4684596"/>
            <a:ext cx="6057171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PH" dirty="0"/>
              <a:t>git clone https://github.com/Cpm-X-Dev/ViteReactDemo.git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6D7E462-4697-E153-1467-FC05E1937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" y="3328923"/>
            <a:ext cx="5503388" cy="287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5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707</Words>
  <Application>Microsoft Office PowerPoint</Application>
  <PresentationFormat>Widescreen</PresentationFormat>
  <Paragraphs>139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Black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OverZenith</dc:creator>
  <cp:lastModifiedBy>OverZenith</cp:lastModifiedBy>
  <cp:revision>21</cp:revision>
  <dcterms:created xsi:type="dcterms:W3CDTF">2026-02-26T13:50:11Z</dcterms:created>
  <dcterms:modified xsi:type="dcterms:W3CDTF">2026-03-05T07:08:06Z</dcterms:modified>
</cp:coreProperties>
</file>