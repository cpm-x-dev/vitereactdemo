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1" r:id="rId4"/>
    <p:sldId id="272" r:id="rId5"/>
    <p:sldId id="265" r:id="rId6"/>
    <p:sldId id="264" r:id="rId7"/>
    <p:sldId id="266" r:id="rId8"/>
    <p:sldId id="269" r:id="rId9"/>
    <p:sldId id="260" r:id="rId10"/>
    <p:sldId id="27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817549-4A25-4258-8A7B-A1B52B94CDB3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8E66CE-74E5-4F20-A23C-D380BD4C0726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1373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EBB0-9AF0-9C17-2C1B-F63AEAF58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36F9A-42BC-C1D9-2B0A-F08139C9E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36850-9DA1-A805-D4E2-3DB3A3578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67ECB-54C3-6BA6-7588-7B204B96B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65FCC-8FA1-2002-6E22-5AEF3B730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8559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D1AEB-B2D8-1C99-3C23-00189D608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B7D4B-3F8F-F0E7-9B84-F248AA065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57628F-130D-7C1F-BDAB-FE0DEC1A8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015C2-2F0F-36A8-00E2-7F04E4EB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1F20D-C1E3-EE0E-D74D-B5E3AF256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65420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69860-07BA-9746-C7DD-37432A641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A1713E-1ECB-D4DC-09A6-42549B987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5060A-F6AB-12AD-6205-FCD3304D7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7881A-5FFB-1556-A510-F92DC96C9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6CFD5-5940-DC62-46EB-EFF0B414B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36276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90174-CEC4-7966-C5F4-4DB466B11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747B7-8C97-168D-81B3-786262CB6A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E5FA45-BBC3-14AB-DD0E-4301705CB3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089519-BDE5-ADC3-AC89-5CAD3EC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A57570-FAA2-C483-A53C-B376FE3CC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627F42-7410-B23D-5A1D-B693A575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08417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A2A5B-8C6A-74BC-2163-BC28A11BD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8E653-9AE5-2636-44E3-0003F2E42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16AF44-2D49-B3D5-1A5B-6F54C01BF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27EA0-8C8A-B9D9-5CAE-A9D292459D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39E700-4E83-AF01-8978-26850BC97A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6424E1-15CE-9C26-2705-756AE8E0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11EC1C-A053-0BA3-E436-A8B56ED35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EF9170-2A6D-9245-3878-5DBADE60D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1381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0A07E-3A9E-0C86-4711-0835C3A7C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DC8FCE-E482-4E88-2DE7-F36027835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D4AE3-2C0C-8FB9-3EA2-4C80A3511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8CFBD1-39C4-D692-6D1A-DB243A592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27346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965897-7DE9-0C14-58E8-B101D70EC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28557F-4879-9C2B-F0EF-89FB28339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4261BE-B345-5952-47B5-BAB252B2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5014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35D8B-A22F-9DF0-0A5E-DB03632D2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61154-C98B-871C-6F45-482F49D7D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13FCBF-F090-E70F-0FC2-4151A09AC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609D3A-6F30-55AF-A6F5-3AB54C285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10FB6-999D-ED56-118F-99DBB23DC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889B7C-55BD-50D1-70FB-BDBB154DF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01093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D10B2-21E7-FD6C-982C-3E15C92EF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1B557D-3670-DE51-0F42-52D0946F6E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8EAF4B-1078-F96E-2C59-E015DCDF2F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23785-456E-D8EF-1994-1A7372FA0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A5BF99-F101-588D-D1DC-C8938DC2C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54E3A9-C1F8-F86E-269B-7ED7BE2B8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5241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B732D-C13A-57C1-2C8D-A5177D0D2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586E88-8EDA-3273-F8BE-26BF30A9F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D6156-20BD-8374-AAFC-B89E26A7E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81E27-9070-7845-3CD4-993434E31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3BBFC5-FB73-E142-4841-037EBFC94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3061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00C218-BAD5-6E45-E1E3-545CA44DC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AAC2E-30D9-EC54-98A4-586D2FD5CB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E86A6-9B47-2952-1874-BDBBE8732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EA74F-E767-7809-AB13-23A2F499A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23CA8-AA5F-1D22-0027-417B7B9E9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21324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8616BC-83EA-2A3E-9A7B-9FFD61F37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02B35B-7FCB-210B-A266-580E7DF4B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E39D0-A3DC-C3BE-BC5A-539C312E6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04625C-03B8-46B3-ABE1-25C5A90DD2C7}" type="datetimeFigureOut">
              <a:rPr lang="en-PH" smtClean="0"/>
              <a:t>3/9/2026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BF259-11CD-5795-49A4-63894A3185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14BEA-C572-4219-1CDF-F8D533BD9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82526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www.docker.com/" TargetMode="External"/><Relationship Id="rId4" Type="http://schemas.openxmlformats.org/officeDocument/2006/relationships/hyperlink" Target="https://nodejs.org/en/download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nodejs.org/en/downloa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facebook.com/photo/?fbid=122159955812934855&amp;set=a.122094378662934855" TargetMode="External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acebook.com/codingwithparvez/posts/learn-react-faster-by-understanding-the-vite-file-structure-know-where-component/122149853750934855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hyperlink" Target="https://github.com/Cpm-X-Dev/ViteReactDem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E364AB3-FFD3-9576-FFCD-8B3AAE3F5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91420"/>
            <a:ext cx="7577137" cy="55332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2BDDCE-0F3C-DFB6-DA6B-3C652AED4BC8}"/>
              </a:ext>
            </a:extLst>
          </p:cNvPr>
          <p:cNvSpPr txBox="1"/>
          <p:nvPr/>
        </p:nvSpPr>
        <p:spPr>
          <a:xfrm>
            <a:off x="304800" y="389033"/>
            <a:ext cx="19591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ptos Black" panose="020F0502020204030204" pitchFamily="34" charset="0"/>
              </a:rPr>
              <a:t>REACT</a:t>
            </a:r>
          </a:p>
          <a:p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F0502020204030204" pitchFamily="34" charset="0"/>
              </a:rPr>
              <a:t>ESSENTIALS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8D1BB0-63E5-364B-74BF-2D8AC5BFC7F2}"/>
              </a:ext>
            </a:extLst>
          </p:cNvPr>
          <p:cNvSpPr txBox="1"/>
          <p:nvPr/>
        </p:nvSpPr>
        <p:spPr>
          <a:xfrm>
            <a:off x="4944097" y="404421"/>
            <a:ext cx="3000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ptos Black" panose="020B0004020202020204" pitchFamily="34" charset="0"/>
              </a:rPr>
              <a:t>MARCH 15 &amp; MARCH 22</a:t>
            </a:r>
            <a:endParaRPr lang="en-US" sz="2000" b="1" dirty="0">
              <a:latin typeface="Aptos Black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DF6605-42C2-EDFB-9AD6-A243A2227812}"/>
              </a:ext>
            </a:extLst>
          </p:cNvPr>
          <p:cNvSpPr txBox="1"/>
          <p:nvPr/>
        </p:nvSpPr>
        <p:spPr>
          <a:xfrm>
            <a:off x="4289045" y="6122318"/>
            <a:ext cx="3655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ptos Black" panose="020B0004020202020204" pitchFamily="34" charset="0"/>
              </a:rPr>
              <a:t>TWO DAY </a:t>
            </a:r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REACT</a:t>
            </a:r>
            <a:r>
              <a:rPr lang="en-US" sz="2000" b="1" dirty="0">
                <a:latin typeface="Aptos Black" panose="020B0004020202020204" pitchFamily="34" charset="0"/>
              </a:rPr>
              <a:t> </a:t>
            </a:r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WORKSHOP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3008F1-2F6C-B7B4-DCF9-97663B894F0E}"/>
              </a:ext>
            </a:extLst>
          </p:cNvPr>
          <p:cNvSpPr txBox="1"/>
          <p:nvPr/>
        </p:nvSpPr>
        <p:spPr>
          <a:xfrm>
            <a:off x="7163615" y="735682"/>
            <a:ext cx="7809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2026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4E1A262-497E-CEEC-FC0D-3284B7C7EF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83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78D01E-3EB5-4927-7150-091356F7DC8F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D24ECD-0B12-C663-EEB0-0D48E07EB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9A655A2-0751-2F54-51F7-B941C7242D9F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E89DD2-6DB9-207D-9788-EA47138ECD2E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2FD205B-7621-2E4A-BC6F-B8BCA9514C49}"/>
              </a:ext>
            </a:extLst>
          </p:cNvPr>
          <p:cNvSpPr txBox="1"/>
          <p:nvPr/>
        </p:nvSpPr>
        <p:spPr>
          <a:xfrm>
            <a:off x="246888" y="711791"/>
            <a:ext cx="32803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WORKSHOP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OUTLINE</a:t>
            </a:r>
            <a:endParaRPr lang="en-PH" sz="24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6328DC-C28E-A853-22AD-706485FA7C72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2B95A3F-6097-F673-6331-534A4F2FD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1961691"/>
              </p:ext>
            </p:extLst>
          </p:nvPr>
        </p:nvGraphicFramePr>
        <p:xfrm>
          <a:off x="1075804" y="1173456"/>
          <a:ext cx="10040391" cy="55590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67329">
                  <a:extLst>
                    <a:ext uri="{9D8B030D-6E8A-4147-A177-3AD203B41FA5}">
                      <a16:colId xmlns:a16="http://schemas.microsoft.com/office/drawing/2014/main" val="143010693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3768887015"/>
                    </a:ext>
                  </a:extLst>
                </a:gridCol>
                <a:gridCol w="3635621">
                  <a:extLst>
                    <a:ext uri="{9D8B030D-6E8A-4147-A177-3AD203B41FA5}">
                      <a16:colId xmlns:a16="http://schemas.microsoft.com/office/drawing/2014/main" val="3848216129"/>
                    </a:ext>
                  </a:extLst>
                </a:gridCol>
                <a:gridCol w="1338993">
                  <a:extLst>
                    <a:ext uri="{9D8B030D-6E8A-4147-A177-3AD203B41FA5}">
                      <a16:colId xmlns:a16="http://schemas.microsoft.com/office/drawing/2014/main" val="2593044736"/>
                    </a:ext>
                  </a:extLst>
                </a:gridCol>
              </a:tblGrid>
              <a:tr h="268226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FIRST HALF (FRONTEND)</a:t>
                      </a:r>
                      <a:endParaRPr lang="en-PH" sz="1400" b="1" dirty="0"/>
                    </a:p>
                  </a:txBody>
                  <a:tcPr marL="130521" marR="130521" marT="65261" marB="652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ESTIMATED DURATION</a:t>
                      </a:r>
                      <a:endParaRPr lang="en-PH" sz="1400" b="1" dirty="0"/>
                    </a:p>
                  </a:txBody>
                  <a:tcPr marL="130521" marR="130521" marT="65261" marB="652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SECOND HALF (BACKEND)</a:t>
                      </a:r>
                      <a:endParaRPr lang="en-PH" sz="1400" b="1" dirty="0"/>
                    </a:p>
                  </a:txBody>
                  <a:tcPr marL="130521" marR="130521" marT="65261" marB="652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ESTIMATED DURATION</a:t>
                      </a:r>
                      <a:endParaRPr lang="en-PH" sz="1400" b="1" dirty="0"/>
                    </a:p>
                  </a:txBody>
                  <a:tcPr marL="130521" marR="130521" marT="65261" marB="65261" anchor="ctr"/>
                </a:tc>
                <a:extLst>
                  <a:ext uri="{0D108BD9-81ED-4DB2-BD59-A6C34878D82A}">
                    <a16:rowId xmlns:a16="http://schemas.microsoft.com/office/drawing/2014/main" val="4162735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b="1" dirty="0"/>
                        <a:t>Environment Setup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10 minutes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r>
                        <a:rPr lang="en-US" sz="1100" dirty="0"/>
                        <a:t>R</a:t>
                      </a:r>
                      <a:r>
                        <a:rPr lang="en-US" sz="1100" b="1" dirty="0"/>
                        <a:t>ecap of Day 1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5 minutes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549748"/>
                  </a:ext>
                </a:extLst>
              </a:tr>
              <a:tr h="165828"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Installing Node.js &amp; Node Package Manager (NPM)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30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Creating your first React App (using Vite)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67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Organizing your project folder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603727"/>
                  </a:ext>
                </a:extLst>
              </a:tr>
              <a:tr h="223622">
                <a:tc>
                  <a:txBody>
                    <a:bodyPr/>
                    <a:lstStyle/>
                    <a:p>
                      <a:r>
                        <a:rPr lang="en-US" sz="1100" b="1" dirty="0"/>
                        <a:t>Introduction to React Application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/>
                </a:tc>
                <a:tc rowSpan="2">
                  <a:txBody>
                    <a:bodyPr/>
                    <a:lstStyle/>
                    <a:p>
                      <a:r>
                        <a:rPr lang="en-US" sz="1100" b="1" dirty="0"/>
                        <a:t>Environment Setup</a:t>
                      </a:r>
                      <a:endParaRPr lang="en-PH" sz="1100" b="1" i="1" dirty="0"/>
                    </a:p>
                  </a:txBody>
                  <a:tcPr marL="130521" marR="130521" marT="65261" marB="65261"/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10 minutes</a:t>
                      </a:r>
                      <a:endParaRPr lang="en-PH" sz="1100" b="1" dirty="0"/>
                    </a:p>
                  </a:txBody>
                  <a:tcPr marL="130521" marR="130521" marT="65261" marB="65261" anchor="ctr"/>
                </a:tc>
                <a:extLst>
                  <a:ext uri="{0D108BD9-81ED-4DB2-BD59-A6C34878D82A}">
                    <a16:rowId xmlns:a16="http://schemas.microsoft.com/office/drawing/2014/main" val="3810499345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Writing your first React page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22092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Initialization of a new package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995027"/>
                  </a:ext>
                </a:extLst>
              </a:tr>
              <a:tr h="149081"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Understanding components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30784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Installing relevant node packages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588727"/>
                  </a:ext>
                </a:extLst>
              </a:tr>
              <a:tr h="223622"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Event Handling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1864439"/>
                  </a:ext>
                </a:extLst>
              </a:tr>
              <a:tr h="223622">
                <a:tc>
                  <a:txBody>
                    <a:bodyPr/>
                    <a:lstStyle/>
                    <a:p>
                      <a:r>
                        <a:rPr lang="en-US" sz="1100" b="1" dirty="0"/>
                        <a:t>Utilizing React Hooks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US" sz="1100" b="1" dirty="0"/>
                        <a:t>Backend Fundamentals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68099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Using </a:t>
                      </a:r>
                      <a:r>
                        <a:rPr lang="en-US" sz="1100" dirty="0" err="1"/>
                        <a:t>useStates</a:t>
                      </a:r>
                      <a:r>
                        <a:rPr lang="en-US" sz="1100" dirty="0"/>
                        <a:t> &amp; Conditional Rendering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4009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Setting up your first node server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205679"/>
                  </a:ext>
                </a:extLst>
              </a:tr>
              <a:tr h="149081"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Using </a:t>
                      </a:r>
                      <a:r>
                        <a:rPr lang="en-US" sz="1100" dirty="0" err="1"/>
                        <a:t>useEffect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879993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API and REST fundamentals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972685"/>
                  </a:ext>
                </a:extLst>
              </a:tr>
              <a:tr h="223622"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Other React Hooks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393093"/>
                  </a:ext>
                </a:extLst>
              </a:tr>
              <a:tr h="529335">
                <a:tc>
                  <a:txBody>
                    <a:bodyPr/>
                    <a:lstStyle/>
                    <a:p>
                      <a:r>
                        <a:rPr lang="en-US" sz="1100" b="1" dirty="0"/>
                        <a:t>Navigating using React Router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/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Handling loading states, errors, and response data</a:t>
                      </a:r>
                      <a:endParaRPr lang="en-PH" sz="1100" b="1" i="1" dirty="0"/>
                    </a:p>
                  </a:txBody>
                  <a:tcPr marL="130521" marR="130521" marT="65261" marB="6526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/>
                </a:tc>
                <a:extLst>
                  <a:ext uri="{0D108BD9-81ED-4DB2-BD59-A6C34878D82A}">
                    <a16:rowId xmlns:a16="http://schemas.microsoft.com/office/drawing/2014/main" val="2159007117"/>
                  </a:ext>
                </a:extLst>
              </a:tr>
              <a:tr h="176445">
                <a:tc rowSpan="3">
                  <a:txBody>
                    <a:bodyPr/>
                    <a:lstStyle/>
                    <a:p>
                      <a:r>
                        <a:rPr lang="en-US" sz="1100" b="1" dirty="0"/>
                        <a:t>Getting user inputs using Forms</a:t>
                      </a:r>
                      <a:endParaRPr lang="en-PH" sz="1100" b="1" i="1" dirty="0"/>
                    </a:p>
                  </a:txBody>
                  <a:tcPr marL="130521" marR="130521" marT="65261" marB="65261"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AuthN and </a:t>
                      </a:r>
                      <a:r>
                        <a:rPr lang="en-US" sz="1100" b="1" dirty="0" err="1"/>
                        <a:t>AuthZ</a:t>
                      </a:r>
                      <a:r>
                        <a:rPr lang="en-US" sz="1100" b="1" dirty="0"/>
                        <a:t> using JWT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1 hour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6972283"/>
                  </a:ext>
                </a:extLst>
              </a:tr>
              <a:tr h="176445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Authentication using JWT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022200"/>
                  </a:ext>
                </a:extLst>
              </a:tr>
              <a:tr h="176445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Protected Routes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02407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809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7DFE6-C5F0-8E22-715D-0DA86146C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A97CD0-6138-DEF1-DB53-B2ACC32FCF96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3498DB-D94D-8424-6829-E44550672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4EB4B54-99BF-BDDF-A34D-823C594CA366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05BFC11-3C93-E760-2F82-0C47B785FCC6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6D4A946-431C-1551-ABE6-8801D3CFD7AA}"/>
              </a:ext>
            </a:extLst>
          </p:cNvPr>
          <p:cNvSpPr txBox="1"/>
          <p:nvPr/>
        </p:nvSpPr>
        <p:spPr>
          <a:xfrm>
            <a:off x="246888" y="711791"/>
            <a:ext cx="32803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WORKSHOP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OUTLINE</a:t>
            </a:r>
            <a:endParaRPr lang="en-PH" sz="24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C1CEA5-B5EB-F5EC-A814-2A369D346F0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108" name="Shape 4">
            <a:extLst>
              <a:ext uri="{FF2B5EF4-FFF2-40B4-BE49-F238E27FC236}">
                <a16:creationId xmlns:a16="http://schemas.microsoft.com/office/drawing/2014/main" id="{4DF1CA84-82FC-2A96-768A-E3A9F3060DF6}"/>
              </a:ext>
            </a:extLst>
          </p:cNvPr>
          <p:cNvSpPr/>
          <p:nvPr/>
        </p:nvSpPr>
        <p:spPr>
          <a:xfrm>
            <a:off x="246888" y="1123163"/>
            <a:ext cx="11521440" cy="438912"/>
          </a:xfrm>
          <a:prstGeom prst="rect">
            <a:avLst/>
          </a:prstGeom>
          <a:solidFill>
            <a:srgbClr val="1B3D2F"/>
          </a:solidFill>
          <a:ln w="12700">
            <a:solidFill>
              <a:srgbClr val="1B3D2F"/>
            </a:solidFill>
            <a:prstDash val="solid"/>
          </a:ln>
        </p:spPr>
        <p:txBody>
          <a:bodyPr/>
          <a:lstStyle/>
          <a:p>
            <a:endParaRPr lang="en-PH" dirty="0"/>
          </a:p>
        </p:txBody>
      </p:sp>
      <p:sp>
        <p:nvSpPr>
          <p:cNvPr id="109" name="Shape 5">
            <a:extLst>
              <a:ext uri="{FF2B5EF4-FFF2-40B4-BE49-F238E27FC236}">
                <a16:creationId xmlns:a16="http://schemas.microsoft.com/office/drawing/2014/main" id="{B89FDC3F-B8CD-71C0-C012-F645BF22C349}"/>
              </a:ext>
            </a:extLst>
          </p:cNvPr>
          <p:cNvSpPr/>
          <p:nvPr/>
        </p:nvSpPr>
        <p:spPr>
          <a:xfrm>
            <a:off x="246888" y="1123163"/>
            <a:ext cx="64008" cy="438912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Text 6">
            <a:extLst>
              <a:ext uri="{FF2B5EF4-FFF2-40B4-BE49-F238E27FC236}">
                <a16:creationId xmlns:a16="http://schemas.microsoft.com/office/drawing/2014/main" id="{E09A1444-D671-DB56-5598-6A1FF200602B}"/>
              </a:ext>
            </a:extLst>
          </p:cNvPr>
          <p:cNvSpPr/>
          <p:nvPr/>
        </p:nvSpPr>
        <p:spPr>
          <a:xfrm>
            <a:off x="356616" y="1123163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>
                    <a:alpha val="3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2600" dirty="0"/>
          </a:p>
        </p:txBody>
      </p:sp>
      <p:sp>
        <p:nvSpPr>
          <p:cNvPr id="111" name="Text 7">
            <a:extLst>
              <a:ext uri="{FF2B5EF4-FFF2-40B4-BE49-F238E27FC236}">
                <a16:creationId xmlns:a16="http://schemas.microsoft.com/office/drawing/2014/main" id="{C65BBCDD-BC0C-6BC5-D3DC-31EFE0658A6C}"/>
              </a:ext>
            </a:extLst>
          </p:cNvPr>
          <p:cNvSpPr/>
          <p:nvPr/>
        </p:nvSpPr>
        <p:spPr>
          <a:xfrm>
            <a:off x="905256" y="1214603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Development</a:t>
            </a:r>
            <a:endParaRPr lang="en-US" sz="1400" dirty="0"/>
          </a:p>
        </p:txBody>
      </p:sp>
      <p:sp>
        <p:nvSpPr>
          <p:cNvPr id="113" name="Shape 9">
            <a:extLst>
              <a:ext uri="{FF2B5EF4-FFF2-40B4-BE49-F238E27FC236}">
                <a16:creationId xmlns:a16="http://schemas.microsoft.com/office/drawing/2014/main" id="{6033E2DA-EA14-80AD-9B68-A998E3FEE87B}"/>
              </a:ext>
            </a:extLst>
          </p:cNvPr>
          <p:cNvSpPr/>
          <p:nvPr/>
        </p:nvSpPr>
        <p:spPr>
          <a:xfrm>
            <a:off x="10122408" y="1214603"/>
            <a:ext cx="1508760" cy="24688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Text 10">
            <a:extLst>
              <a:ext uri="{FF2B5EF4-FFF2-40B4-BE49-F238E27FC236}">
                <a16:creationId xmlns:a16="http://schemas.microsoft.com/office/drawing/2014/main" id="{ED5BEAA1-A492-54CB-4500-C43D1EF85880}"/>
              </a:ext>
            </a:extLst>
          </p:cNvPr>
          <p:cNvSpPr/>
          <p:nvPr/>
        </p:nvSpPr>
        <p:spPr>
          <a:xfrm>
            <a:off x="10122408" y="1214603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HOURS</a:t>
            </a:r>
            <a:endParaRPr lang="en-US" sz="900" dirty="0"/>
          </a:p>
        </p:txBody>
      </p:sp>
      <p:sp>
        <p:nvSpPr>
          <p:cNvPr id="115" name="Shape 11">
            <a:extLst>
              <a:ext uri="{FF2B5EF4-FFF2-40B4-BE49-F238E27FC236}">
                <a16:creationId xmlns:a16="http://schemas.microsoft.com/office/drawing/2014/main" id="{AADD591D-4453-C93E-C97F-94DBE2BA520E}"/>
              </a:ext>
            </a:extLst>
          </p:cNvPr>
          <p:cNvSpPr/>
          <p:nvPr/>
        </p:nvSpPr>
        <p:spPr>
          <a:xfrm>
            <a:off x="246888" y="1653515"/>
            <a:ext cx="11521440" cy="201168"/>
          </a:xfrm>
          <a:prstGeom prst="rect">
            <a:avLst/>
          </a:prstGeom>
          <a:solidFill>
            <a:srgbClr val="254D3A"/>
          </a:solidFill>
          <a:ln w="12700">
            <a:solidFill>
              <a:srgbClr val="254D3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Text 12">
            <a:extLst>
              <a:ext uri="{FF2B5EF4-FFF2-40B4-BE49-F238E27FC236}">
                <a16:creationId xmlns:a16="http://schemas.microsoft.com/office/drawing/2014/main" id="{64138747-728F-FC91-4054-8E107A5DB0A7}"/>
              </a:ext>
            </a:extLst>
          </p:cNvPr>
          <p:cNvSpPr/>
          <p:nvPr/>
        </p:nvSpPr>
        <p:spPr>
          <a:xfrm>
            <a:off x="384048" y="1653515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C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750" dirty="0"/>
          </a:p>
        </p:txBody>
      </p:sp>
      <p:sp>
        <p:nvSpPr>
          <p:cNvPr id="117" name="Text 13">
            <a:extLst>
              <a:ext uri="{FF2B5EF4-FFF2-40B4-BE49-F238E27FC236}">
                <a16:creationId xmlns:a16="http://schemas.microsoft.com/office/drawing/2014/main" id="{D6977599-5DD4-97E4-DF7A-55B452D5423E}"/>
              </a:ext>
            </a:extLst>
          </p:cNvPr>
          <p:cNvSpPr/>
          <p:nvPr/>
        </p:nvSpPr>
        <p:spPr>
          <a:xfrm>
            <a:off x="9619488" y="1653515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kern="0" spc="150" dirty="0">
                <a:solidFill>
                  <a:srgbClr val="C0D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DURATION</a:t>
            </a:r>
            <a:endParaRPr lang="en-US" sz="750" dirty="0"/>
          </a:p>
        </p:txBody>
      </p:sp>
      <p:sp>
        <p:nvSpPr>
          <p:cNvPr id="118" name="Shape 14">
            <a:extLst>
              <a:ext uri="{FF2B5EF4-FFF2-40B4-BE49-F238E27FC236}">
                <a16:creationId xmlns:a16="http://schemas.microsoft.com/office/drawing/2014/main" id="{6CD1F496-EBD8-5D4B-3D8B-796AE4D0FFA0}"/>
              </a:ext>
            </a:extLst>
          </p:cNvPr>
          <p:cNvSpPr/>
          <p:nvPr/>
        </p:nvSpPr>
        <p:spPr>
          <a:xfrm>
            <a:off x="246888" y="1854683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9" name="Shape 15">
            <a:extLst>
              <a:ext uri="{FF2B5EF4-FFF2-40B4-BE49-F238E27FC236}">
                <a16:creationId xmlns:a16="http://schemas.microsoft.com/office/drawing/2014/main" id="{F985F5DD-5F11-BD2D-3883-62FDBBA30AAA}"/>
              </a:ext>
            </a:extLst>
          </p:cNvPr>
          <p:cNvSpPr/>
          <p:nvPr/>
        </p:nvSpPr>
        <p:spPr>
          <a:xfrm>
            <a:off x="347472" y="1895831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0" name="Text 16">
            <a:extLst>
              <a:ext uri="{FF2B5EF4-FFF2-40B4-BE49-F238E27FC236}">
                <a16:creationId xmlns:a16="http://schemas.microsoft.com/office/drawing/2014/main" id="{27B60542-7D0B-F18F-82C3-17A89CE54994}"/>
              </a:ext>
            </a:extLst>
          </p:cNvPr>
          <p:cNvSpPr/>
          <p:nvPr/>
        </p:nvSpPr>
        <p:spPr>
          <a:xfrm>
            <a:off x="347472" y="1895831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21" name="Text 17">
            <a:extLst>
              <a:ext uri="{FF2B5EF4-FFF2-40B4-BE49-F238E27FC236}">
                <a16:creationId xmlns:a16="http://schemas.microsoft.com/office/drawing/2014/main" id="{E547B2A8-11B7-0159-DA06-A62DE44454F2}"/>
              </a:ext>
            </a:extLst>
          </p:cNvPr>
          <p:cNvSpPr/>
          <p:nvPr/>
        </p:nvSpPr>
        <p:spPr>
          <a:xfrm>
            <a:off x="585216" y="1854683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 for FRONTEND</a:t>
            </a:r>
            <a:endParaRPr lang="en-US" sz="950" dirty="0"/>
          </a:p>
        </p:txBody>
      </p:sp>
      <p:sp>
        <p:nvSpPr>
          <p:cNvPr id="122" name="Text 18">
            <a:extLst>
              <a:ext uri="{FF2B5EF4-FFF2-40B4-BE49-F238E27FC236}">
                <a16:creationId xmlns:a16="http://schemas.microsoft.com/office/drawing/2014/main" id="{F4B73B3C-F99B-E9C8-DF1B-FA748E36B283}"/>
              </a:ext>
            </a:extLst>
          </p:cNvPr>
          <p:cNvSpPr/>
          <p:nvPr/>
        </p:nvSpPr>
        <p:spPr>
          <a:xfrm>
            <a:off x="9619488" y="1854683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900" dirty="0"/>
          </a:p>
        </p:txBody>
      </p:sp>
      <p:sp>
        <p:nvSpPr>
          <p:cNvPr id="123" name="Shape 19">
            <a:extLst>
              <a:ext uri="{FF2B5EF4-FFF2-40B4-BE49-F238E27FC236}">
                <a16:creationId xmlns:a16="http://schemas.microsoft.com/office/drawing/2014/main" id="{A360DD93-0B10-67A6-3168-C81BCD778536}"/>
              </a:ext>
            </a:extLst>
          </p:cNvPr>
          <p:cNvSpPr/>
          <p:nvPr/>
        </p:nvSpPr>
        <p:spPr>
          <a:xfrm>
            <a:off x="246888" y="2101571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4" name="Shape 20">
            <a:extLst>
              <a:ext uri="{FF2B5EF4-FFF2-40B4-BE49-F238E27FC236}">
                <a16:creationId xmlns:a16="http://schemas.microsoft.com/office/drawing/2014/main" id="{638B9E27-E4C0-3A31-4809-7608DBE9CA2D}"/>
              </a:ext>
            </a:extLst>
          </p:cNvPr>
          <p:cNvSpPr/>
          <p:nvPr/>
        </p:nvSpPr>
        <p:spPr>
          <a:xfrm>
            <a:off x="694944" y="2166036"/>
            <a:ext cx="67666" cy="67666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5" name="Text 21">
            <a:extLst>
              <a:ext uri="{FF2B5EF4-FFF2-40B4-BE49-F238E27FC236}">
                <a16:creationId xmlns:a16="http://schemas.microsoft.com/office/drawing/2014/main" id="{799E2CC2-36E2-FCB2-752B-C0A5CE80ACFF}"/>
              </a:ext>
            </a:extLst>
          </p:cNvPr>
          <p:cNvSpPr/>
          <p:nvPr/>
        </p:nvSpPr>
        <p:spPr>
          <a:xfrm>
            <a:off x="822960" y="2101571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of Node JS &amp; Node Package Manager (NPM)</a:t>
            </a:r>
            <a:endParaRPr lang="en-US" sz="850" dirty="0"/>
          </a:p>
        </p:txBody>
      </p:sp>
      <p:sp>
        <p:nvSpPr>
          <p:cNvPr id="126" name="Shape 22">
            <a:extLst>
              <a:ext uri="{FF2B5EF4-FFF2-40B4-BE49-F238E27FC236}">
                <a16:creationId xmlns:a16="http://schemas.microsoft.com/office/drawing/2014/main" id="{BB4310F9-6E40-EC15-1137-A899BD15205E}"/>
              </a:ext>
            </a:extLst>
          </p:cNvPr>
          <p:cNvSpPr/>
          <p:nvPr/>
        </p:nvSpPr>
        <p:spPr>
          <a:xfrm>
            <a:off x="246888" y="2298167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7" name="Shape 23">
            <a:extLst>
              <a:ext uri="{FF2B5EF4-FFF2-40B4-BE49-F238E27FC236}">
                <a16:creationId xmlns:a16="http://schemas.microsoft.com/office/drawing/2014/main" id="{97A81F81-AFA0-9E29-9855-8BB7E9BF7BD7}"/>
              </a:ext>
            </a:extLst>
          </p:cNvPr>
          <p:cNvSpPr/>
          <p:nvPr/>
        </p:nvSpPr>
        <p:spPr>
          <a:xfrm>
            <a:off x="694944" y="2362632"/>
            <a:ext cx="67666" cy="67666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8" name="Text 24">
            <a:extLst>
              <a:ext uri="{FF2B5EF4-FFF2-40B4-BE49-F238E27FC236}">
                <a16:creationId xmlns:a16="http://schemas.microsoft.com/office/drawing/2014/main" id="{EC4931EC-DB00-804B-F20C-FEBA594E689F}"/>
              </a:ext>
            </a:extLst>
          </p:cNvPr>
          <p:cNvSpPr/>
          <p:nvPr/>
        </p:nvSpPr>
        <p:spPr>
          <a:xfrm>
            <a:off x="822960" y="2298167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App Creation (using Vite)</a:t>
            </a:r>
            <a:endParaRPr lang="en-US" sz="850" dirty="0"/>
          </a:p>
        </p:txBody>
      </p:sp>
      <p:sp>
        <p:nvSpPr>
          <p:cNvPr id="129" name="Shape 25">
            <a:extLst>
              <a:ext uri="{FF2B5EF4-FFF2-40B4-BE49-F238E27FC236}">
                <a16:creationId xmlns:a16="http://schemas.microsoft.com/office/drawing/2014/main" id="{5BC21FB3-EC7C-B083-F8F6-D3D4246A7565}"/>
              </a:ext>
            </a:extLst>
          </p:cNvPr>
          <p:cNvSpPr/>
          <p:nvPr/>
        </p:nvSpPr>
        <p:spPr>
          <a:xfrm>
            <a:off x="246888" y="2494763"/>
            <a:ext cx="11521440" cy="246888"/>
          </a:xfrm>
          <a:prstGeom prst="rect">
            <a:avLst/>
          </a:prstGeom>
          <a:solidFill>
            <a:srgbClr val="EAF0E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0" name="Shape 26">
            <a:extLst>
              <a:ext uri="{FF2B5EF4-FFF2-40B4-BE49-F238E27FC236}">
                <a16:creationId xmlns:a16="http://schemas.microsoft.com/office/drawing/2014/main" id="{00D3107C-AB76-AB52-2187-B9FEB238DAE5}"/>
              </a:ext>
            </a:extLst>
          </p:cNvPr>
          <p:cNvSpPr/>
          <p:nvPr/>
        </p:nvSpPr>
        <p:spPr>
          <a:xfrm>
            <a:off x="347472" y="2535911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1" name="Text 27">
            <a:extLst>
              <a:ext uri="{FF2B5EF4-FFF2-40B4-BE49-F238E27FC236}">
                <a16:creationId xmlns:a16="http://schemas.microsoft.com/office/drawing/2014/main" id="{694DCFF7-1C90-7840-4F60-CD22787738CE}"/>
              </a:ext>
            </a:extLst>
          </p:cNvPr>
          <p:cNvSpPr/>
          <p:nvPr/>
        </p:nvSpPr>
        <p:spPr>
          <a:xfrm>
            <a:off x="347472" y="2535911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132" name="Text 28">
            <a:extLst>
              <a:ext uri="{FF2B5EF4-FFF2-40B4-BE49-F238E27FC236}">
                <a16:creationId xmlns:a16="http://schemas.microsoft.com/office/drawing/2014/main" id="{885FFB1E-CABA-71A6-567E-9EB53A8A2D50}"/>
              </a:ext>
            </a:extLst>
          </p:cNvPr>
          <p:cNvSpPr/>
          <p:nvPr/>
        </p:nvSpPr>
        <p:spPr>
          <a:xfrm>
            <a:off x="585216" y="2494763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React</a:t>
            </a:r>
            <a:endParaRPr lang="en-US" sz="950" dirty="0"/>
          </a:p>
        </p:txBody>
      </p:sp>
      <p:sp>
        <p:nvSpPr>
          <p:cNvPr id="133" name="Text 29">
            <a:extLst>
              <a:ext uri="{FF2B5EF4-FFF2-40B4-BE49-F238E27FC236}">
                <a16:creationId xmlns:a16="http://schemas.microsoft.com/office/drawing/2014/main" id="{4ACBE694-4DAF-CE19-13F5-D80C30F53441}"/>
              </a:ext>
            </a:extLst>
          </p:cNvPr>
          <p:cNvSpPr/>
          <p:nvPr/>
        </p:nvSpPr>
        <p:spPr>
          <a:xfrm>
            <a:off x="9619488" y="2494763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min</a:t>
            </a:r>
            <a:endParaRPr lang="en-US" sz="900" dirty="0"/>
          </a:p>
        </p:txBody>
      </p:sp>
      <p:sp>
        <p:nvSpPr>
          <p:cNvPr id="134" name="Shape 30">
            <a:extLst>
              <a:ext uri="{FF2B5EF4-FFF2-40B4-BE49-F238E27FC236}">
                <a16:creationId xmlns:a16="http://schemas.microsoft.com/office/drawing/2014/main" id="{3FE9951A-7537-446F-0B53-A92F7357A222}"/>
              </a:ext>
            </a:extLst>
          </p:cNvPr>
          <p:cNvSpPr/>
          <p:nvPr/>
        </p:nvSpPr>
        <p:spPr>
          <a:xfrm>
            <a:off x="246888" y="2741651"/>
            <a:ext cx="11521440" cy="219456"/>
          </a:xfrm>
          <a:prstGeom prst="rect">
            <a:avLst/>
          </a:prstGeom>
          <a:solidFill>
            <a:srgbClr val="F8FAF8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5" name="Shape 31">
            <a:extLst>
              <a:ext uri="{FF2B5EF4-FFF2-40B4-BE49-F238E27FC236}">
                <a16:creationId xmlns:a16="http://schemas.microsoft.com/office/drawing/2014/main" id="{7E75E9DB-7D1B-9C05-B53F-B3B056B7A1B9}"/>
              </a:ext>
            </a:extLst>
          </p:cNvPr>
          <p:cNvSpPr/>
          <p:nvPr/>
        </p:nvSpPr>
        <p:spPr>
          <a:xfrm>
            <a:off x="603504" y="2814803"/>
            <a:ext cx="91440" cy="6400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6" name="Text 32">
            <a:extLst>
              <a:ext uri="{FF2B5EF4-FFF2-40B4-BE49-F238E27FC236}">
                <a16:creationId xmlns:a16="http://schemas.microsoft.com/office/drawing/2014/main" id="{2A977AFC-D9F7-99A6-43EA-C52393994F5C}"/>
              </a:ext>
            </a:extLst>
          </p:cNvPr>
          <p:cNvSpPr/>
          <p:nvPr/>
        </p:nvSpPr>
        <p:spPr>
          <a:xfrm>
            <a:off x="749808" y="2741651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900" dirty="0"/>
          </a:p>
        </p:txBody>
      </p:sp>
      <p:sp>
        <p:nvSpPr>
          <p:cNvPr id="137" name="Shape 33">
            <a:extLst>
              <a:ext uri="{FF2B5EF4-FFF2-40B4-BE49-F238E27FC236}">
                <a16:creationId xmlns:a16="http://schemas.microsoft.com/office/drawing/2014/main" id="{3AC4B0B7-662D-4736-691E-BD692B4DD3E3}"/>
              </a:ext>
            </a:extLst>
          </p:cNvPr>
          <p:cNvSpPr/>
          <p:nvPr/>
        </p:nvSpPr>
        <p:spPr>
          <a:xfrm>
            <a:off x="246888" y="2961107"/>
            <a:ext cx="11521440" cy="196596"/>
          </a:xfrm>
          <a:prstGeom prst="rect">
            <a:avLst/>
          </a:prstGeom>
          <a:solidFill>
            <a:srgbClr val="FDFDFD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8" name="Shape 34">
            <a:extLst>
              <a:ext uri="{FF2B5EF4-FFF2-40B4-BE49-F238E27FC236}">
                <a16:creationId xmlns:a16="http://schemas.microsoft.com/office/drawing/2014/main" id="{6B724C4F-0CFD-89BD-8969-643B4BA3E317}"/>
              </a:ext>
            </a:extLst>
          </p:cNvPr>
          <p:cNvSpPr/>
          <p:nvPr/>
        </p:nvSpPr>
        <p:spPr>
          <a:xfrm>
            <a:off x="969264" y="3031973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9" name="Text 35">
            <a:extLst>
              <a:ext uri="{FF2B5EF4-FFF2-40B4-BE49-F238E27FC236}">
                <a16:creationId xmlns:a16="http://schemas.microsoft.com/office/drawing/2014/main" id="{78F9CC6A-83EF-9AFC-8FE7-6AD2E3678FEF}"/>
              </a:ext>
            </a:extLst>
          </p:cNvPr>
          <p:cNvSpPr/>
          <p:nvPr/>
        </p:nvSpPr>
        <p:spPr>
          <a:xfrm>
            <a:off x="1078992" y="2961107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of the different files &amp; folders</a:t>
            </a:r>
            <a:endParaRPr lang="en-US" sz="800" dirty="0"/>
          </a:p>
        </p:txBody>
      </p:sp>
      <p:sp>
        <p:nvSpPr>
          <p:cNvPr id="140" name="Shape 36">
            <a:extLst>
              <a:ext uri="{FF2B5EF4-FFF2-40B4-BE49-F238E27FC236}">
                <a16:creationId xmlns:a16="http://schemas.microsoft.com/office/drawing/2014/main" id="{F01F0170-F239-8707-AFE6-6C787AF68139}"/>
              </a:ext>
            </a:extLst>
          </p:cNvPr>
          <p:cNvSpPr/>
          <p:nvPr/>
        </p:nvSpPr>
        <p:spPr>
          <a:xfrm>
            <a:off x="246888" y="3157703"/>
            <a:ext cx="11521440" cy="196596"/>
          </a:xfrm>
          <a:prstGeom prst="rect">
            <a:avLst/>
          </a:prstGeom>
          <a:solidFill>
            <a:srgbClr val="F9F9F9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1" name="Shape 37">
            <a:extLst>
              <a:ext uri="{FF2B5EF4-FFF2-40B4-BE49-F238E27FC236}">
                <a16:creationId xmlns:a16="http://schemas.microsoft.com/office/drawing/2014/main" id="{C490153E-D61F-054D-26AD-1EDCD1D44308}"/>
              </a:ext>
            </a:extLst>
          </p:cNvPr>
          <p:cNvSpPr/>
          <p:nvPr/>
        </p:nvSpPr>
        <p:spPr>
          <a:xfrm>
            <a:off x="969264" y="3228569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2" name="Text 38">
            <a:extLst>
              <a:ext uri="{FF2B5EF4-FFF2-40B4-BE49-F238E27FC236}">
                <a16:creationId xmlns:a16="http://schemas.microsoft.com/office/drawing/2014/main" id="{B61C4CC6-B09F-6D97-683B-4B74A62598EE}"/>
              </a:ext>
            </a:extLst>
          </p:cNvPr>
          <p:cNvSpPr/>
          <p:nvPr/>
        </p:nvSpPr>
        <p:spPr>
          <a:xfrm>
            <a:off x="1078992" y="3157703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Organization</a:t>
            </a:r>
            <a:endParaRPr lang="en-US" sz="800" dirty="0"/>
          </a:p>
        </p:txBody>
      </p:sp>
      <p:sp>
        <p:nvSpPr>
          <p:cNvPr id="143" name="Shape 39">
            <a:extLst>
              <a:ext uri="{FF2B5EF4-FFF2-40B4-BE49-F238E27FC236}">
                <a16:creationId xmlns:a16="http://schemas.microsoft.com/office/drawing/2014/main" id="{F251EA50-6390-04C8-C7E4-6F752E9FECA8}"/>
              </a:ext>
            </a:extLst>
          </p:cNvPr>
          <p:cNvSpPr/>
          <p:nvPr/>
        </p:nvSpPr>
        <p:spPr>
          <a:xfrm>
            <a:off x="246888" y="3354299"/>
            <a:ext cx="11521440" cy="196596"/>
          </a:xfrm>
          <a:prstGeom prst="rect">
            <a:avLst/>
          </a:prstGeom>
          <a:solidFill>
            <a:srgbClr val="FDFDFD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4" name="Shape 40">
            <a:extLst>
              <a:ext uri="{FF2B5EF4-FFF2-40B4-BE49-F238E27FC236}">
                <a16:creationId xmlns:a16="http://schemas.microsoft.com/office/drawing/2014/main" id="{129D0EF7-040E-9858-1B74-83D7DC1AD602}"/>
              </a:ext>
            </a:extLst>
          </p:cNvPr>
          <p:cNvSpPr/>
          <p:nvPr/>
        </p:nvSpPr>
        <p:spPr>
          <a:xfrm>
            <a:off x="969264" y="3425165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5" name="Text 41">
            <a:extLst>
              <a:ext uri="{FF2B5EF4-FFF2-40B4-BE49-F238E27FC236}">
                <a16:creationId xmlns:a16="http://schemas.microsoft.com/office/drawing/2014/main" id="{4AE56FA7-12C9-B559-8720-2A08ED03BEAE}"/>
              </a:ext>
            </a:extLst>
          </p:cNvPr>
          <p:cNvSpPr/>
          <p:nvPr/>
        </p:nvSpPr>
        <p:spPr>
          <a:xfrm>
            <a:off x="1078992" y="3354299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coding, basic syntax, JSX (TSX) overview</a:t>
            </a:r>
            <a:endParaRPr lang="en-US" sz="800" dirty="0"/>
          </a:p>
        </p:txBody>
      </p:sp>
      <p:sp>
        <p:nvSpPr>
          <p:cNvPr id="146" name="Shape 42">
            <a:extLst>
              <a:ext uri="{FF2B5EF4-FFF2-40B4-BE49-F238E27FC236}">
                <a16:creationId xmlns:a16="http://schemas.microsoft.com/office/drawing/2014/main" id="{D999C842-BBEA-C143-A1B7-867958256C53}"/>
              </a:ext>
            </a:extLst>
          </p:cNvPr>
          <p:cNvSpPr/>
          <p:nvPr/>
        </p:nvSpPr>
        <p:spPr>
          <a:xfrm>
            <a:off x="246888" y="3550895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7" name="Shape 43">
            <a:extLst>
              <a:ext uri="{FF2B5EF4-FFF2-40B4-BE49-F238E27FC236}">
                <a16:creationId xmlns:a16="http://schemas.microsoft.com/office/drawing/2014/main" id="{49CAAB2D-F099-5104-1A11-C6F60F58F5CD}"/>
              </a:ext>
            </a:extLst>
          </p:cNvPr>
          <p:cNvSpPr/>
          <p:nvPr/>
        </p:nvSpPr>
        <p:spPr>
          <a:xfrm>
            <a:off x="347472" y="3592043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8" name="Text 44">
            <a:extLst>
              <a:ext uri="{FF2B5EF4-FFF2-40B4-BE49-F238E27FC236}">
                <a16:creationId xmlns:a16="http://schemas.microsoft.com/office/drawing/2014/main" id="{D4E2AC54-649C-5724-8507-48E877541F7A}"/>
              </a:ext>
            </a:extLst>
          </p:cNvPr>
          <p:cNvSpPr/>
          <p:nvPr/>
        </p:nvSpPr>
        <p:spPr>
          <a:xfrm>
            <a:off x="347472" y="3592043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149" name="Text 45">
            <a:extLst>
              <a:ext uri="{FF2B5EF4-FFF2-40B4-BE49-F238E27FC236}">
                <a16:creationId xmlns:a16="http://schemas.microsoft.com/office/drawing/2014/main" id="{119E70EC-33B4-6376-2AF7-4DD0B7220E3A}"/>
              </a:ext>
            </a:extLst>
          </p:cNvPr>
          <p:cNvSpPr/>
          <p:nvPr/>
        </p:nvSpPr>
        <p:spPr>
          <a:xfrm>
            <a:off x="585216" y="3550895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Concept of Components</a:t>
            </a:r>
            <a:endParaRPr lang="en-US" sz="950" dirty="0"/>
          </a:p>
        </p:txBody>
      </p:sp>
      <p:sp>
        <p:nvSpPr>
          <p:cNvPr id="150" name="Text 46">
            <a:extLst>
              <a:ext uri="{FF2B5EF4-FFF2-40B4-BE49-F238E27FC236}">
                <a16:creationId xmlns:a16="http://schemas.microsoft.com/office/drawing/2014/main" id="{5121AB65-B6CB-AD53-737B-59C27B60B63F}"/>
              </a:ext>
            </a:extLst>
          </p:cNvPr>
          <p:cNvSpPr/>
          <p:nvPr/>
        </p:nvSpPr>
        <p:spPr>
          <a:xfrm>
            <a:off x="9619488" y="3550895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900" dirty="0"/>
          </a:p>
        </p:txBody>
      </p:sp>
      <p:sp>
        <p:nvSpPr>
          <p:cNvPr id="151" name="Shape 47">
            <a:extLst>
              <a:ext uri="{FF2B5EF4-FFF2-40B4-BE49-F238E27FC236}">
                <a16:creationId xmlns:a16="http://schemas.microsoft.com/office/drawing/2014/main" id="{43FCB07F-388F-891B-411D-035FBC1F6983}"/>
              </a:ext>
            </a:extLst>
          </p:cNvPr>
          <p:cNvSpPr/>
          <p:nvPr/>
        </p:nvSpPr>
        <p:spPr>
          <a:xfrm>
            <a:off x="246888" y="3797783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2" name="Shape 48">
            <a:extLst>
              <a:ext uri="{FF2B5EF4-FFF2-40B4-BE49-F238E27FC236}">
                <a16:creationId xmlns:a16="http://schemas.microsoft.com/office/drawing/2014/main" id="{D2522EA1-4B30-3448-E8E8-33EBC800AB83}"/>
              </a:ext>
            </a:extLst>
          </p:cNvPr>
          <p:cNvSpPr/>
          <p:nvPr/>
        </p:nvSpPr>
        <p:spPr>
          <a:xfrm>
            <a:off x="694944" y="3862248"/>
            <a:ext cx="67666" cy="67666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3" name="Text 49">
            <a:extLst>
              <a:ext uri="{FF2B5EF4-FFF2-40B4-BE49-F238E27FC236}">
                <a16:creationId xmlns:a16="http://schemas.microsoft.com/office/drawing/2014/main" id="{628DEB3C-E63E-E9B7-41E4-A962D51B50F6}"/>
              </a:ext>
            </a:extLst>
          </p:cNvPr>
          <p:cNvSpPr/>
          <p:nvPr/>
        </p:nvSpPr>
        <p:spPr>
          <a:xfrm>
            <a:off x="822960" y="3797783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create &amp; use components</a:t>
            </a:r>
            <a:endParaRPr lang="en-US" sz="850" dirty="0"/>
          </a:p>
        </p:txBody>
      </p:sp>
      <p:sp>
        <p:nvSpPr>
          <p:cNvPr id="154" name="Shape 50">
            <a:extLst>
              <a:ext uri="{FF2B5EF4-FFF2-40B4-BE49-F238E27FC236}">
                <a16:creationId xmlns:a16="http://schemas.microsoft.com/office/drawing/2014/main" id="{DDA69D14-2790-BA90-912C-D57BAAD79210}"/>
              </a:ext>
            </a:extLst>
          </p:cNvPr>
          <p:cNvSpPr/>
          <p:nvPr/>
        </p:nvSpPr>
        <p:spPr>
          <a:xfrm>
            <a:off x="246888" y="3994379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5" name="Shape 51">
            <a:extLst>
              <a:ext uri="{FF2B5EF4-FFF2-40B4-BE49-F238E27FC236}">
                <a16:creationId xmlns:a16="http://schemas.microsoft.com/office/drawing/2014/main" id="{87A40157-2786-48DF-4764-A90BC415B7B9}"/>
              </a:ext>
            </a:extLst>
          </p:cNvPr>
          <p:cNvSpPr/>
          <p:nvPr/>
        </p:nvSpPr>
        <p:spPr>
          <a:xfrm>
            <a:off x="694944" y="4058844"/>
            <a:ext cx="67666" cy="67666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6" name="Text 52">
            <a:extLst>
              <a:ext uri="{FF2B5EF4-FFF2-40B4-BE49-F238E27FC236}">
                <a16:creationId xmlns:a16="http://schemas.microsoft.com/office/drawing/2014/main" id="{206E7DAC-F91E-941E-B444-BE188F517695}"/>
              </a:ext>
            </a:extLst>
          </p:cNvPr>
          <p:cNvSpPr/>
          <p:nvPr/>
        </p:nvSpPr>
        <p:spPr>
          <a:xfrm>
            <a:off x="822960" y="3994379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props in components</a:t>
            </a:r>
            <a:endParaRPr lang="en-US" sz="850" dirty="0"/>
          </a:p>
        </p:txBody>
      </p:sp>
      <p:sp>
        <p:nvSpPr>
          <p:cNvPr id="157" name="Shape 53">
            <a:extLst>
              <a:ext uri="{FF2B5EF4-FFF2-40B4-BE49-F238E27FC236}">
                <a16:creationId xmlns:a16="http://schemas.microsoft.com/office/drawing/2014/main" id="{278FA84C-26CC-8BC5-5AE3-CD7AC6BE7F2A}"/>
              </a:ext>
            </a:extLst>
          </p:cNvPr>
          <p:cNvSpPr/>
          <p:nvPr/>
        </p:nvSpPr>
        <p:spPr>
          <a:xfrm>
            <a:off x="246888" y="4190975"/>
            <a:ext cx="11521440" cy="246888"/>
          </a:xfrm>
          <a:prstGeom prst="rect">
            <a:avLst/>
          </a:prstGeom>
          <a:solidFill>
            <a:srgbClr val="EAF0E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8" name="Shape 54">
            <a:extLst>
              <a:ext uri="{FF2B5EF4-FFF2-40B4-BE49-F238E27FC236}">
                <a16:creationId xmlns:a16="http://schemas.microsoft.com/office/drawing/2014/main" id="{BCD18B8F-F87C-C4C8-D789-BECCE1E9C2E4}"/>
              </a:ext>
            </a:extLst>
          </p:cNvPr>
          <p:cNvSpPr/>
          <p:nvPr/>
        </p:nvSpPr>
        <p:spPr>
          <a:xfrm>
            <a:off x="347472" y="4232123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9" name="Text 55">
            <a:extLst>
              <a:ext uri="{FF2B5EF4-FFF2-40B4-BE49-F238E27FC236}">
                <a16:creationId xmlns:a16="http://schemas.microsoft.com/office/drawing/2014/main" id="{68AFFB2A-9B23-00A0-0277-D92F9F6587AB}"/>
              </a:ext>
            </a:extLst>
          </p:cNvPr>
          <p:cNvSpPr/>
          <p:nvPr/>
        </p:nvSpPr>
        <p:spPr>
          <a:xfrm>
            <a:off x="347472" y="4232123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160" name="Text 56">
            <a:extLst>
              <a:ext uri="{FF2B5EF4-FFF2-40B4-BE49-F238E27FC236}">
                <a16:creationId xmlns:a16="http://schemas.microsoft.com/office/drawing/2014/main" id="{7041CC87-88B0-5420-F8BE-BD073FB95910}"/>
              </a:ext>
            </a:extLst>
          </p:cNvPr>
          <p:cNvSpPr/>
          <p:nvPr/>
        </p:nvSpPr>
        <p:spPr>
          <a:xfrm>
            <a:off x="585216" y="4190975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Interactivity on React Websites</a:t>
            </a:r>
            <a:endParaRPr lang="en-US" sz="950" dirty="0"/>
          </a:p>
        </p:txBody>
      </p:sp>
      <p:sp>
        <p:nvSpPr>
          <p:cNvPr id="161" name="Text 57">
            <a:extLst>
              <a:ext uri="{FF2B5EF4-FFF2-40B4-BE49-F238E27FC236}">
                <a16:creationId xmlns:a16="http://schemas.microsoft.com/office/drawing/2014/main" id="{9E695D4B-6892-8D14-8DE3-1C633360862B}"/>
              </a:ext>
            </a:extLst>
          </p:cNvPr>
          <p:cNvSpPr/>
          <p:nvPr/>
        </p:nvSpPr>
        <p:spPr>
          <a:xfrm>
            <a:off x="9619488" y="4190975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 min</a:t>
            </a:r>
            <a:endParaRPr lang="en-US" sz="900" dirty="0"/>
          </a:p>
        </p:txBody>
      </p:sp>
      <p:sp>
        <p:nvSpPr>
          <p:cNvPr id="162" name="Shape 58">
            <a:extLst>
              <a:ext uri="{FF2B5EF4-FFF2-40B4-BE49-F238E27FC236}">
                <a16:creationId xmlns:a16="http://schemas.microsoft.com/office/drawing/2014/main" id="{11336536-47D8-2958-AA13-BF80AD65C0EA}"/>
              </a:ext>
            </a:extLst>
          </p:cNvPr>
          <p:cNvSpPr/>
          <p:nvPr/>
        </p:nvSpPr>
        <p:spPr>
          <a:xfrm>
            <a:off x="246888" y="4437863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3" name="Shape 59">
            <a:extLst>
              <a:ext uri="{FF2B5EF4-FFF2-40B4-BE49-F238E27FC236}">
                <a16:creationId xmlns:a16="http://schemas.microsoft.com/office/drawing/2014/main" id="{8DEA29D3-F0EC-8C49-0D4F-2BAB08B8FDAC}"/>
              </a:ext>
            </a:extLst>
          </p:cNvPr>
          <p:cNvSpPr/>
          <p:nvPr/>
        </p:nvSpPr>
        <p:spPr>
          <a:xfrm>
            <a:off x="694944" y="4502328"/>
            <a:ext cx="67666" cy="67666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4" name="Text 60">
            <a:extLst>
              <a:ext uri="{FF2B5EF4-FFF2-40B4-BE49-F238E27FC236}">
                <a16:creationId xmlns:a16="http://schemas.microsoft.com/office/drawing/2014/main" id="{D5758906-D7B1-32DF-6100-4D6D5768CF7A}"/>
              </a:ext>
            </a:extLst>
          </p:cNvPr>
          <p:cNvSpPr/>
          <p:nvPr/>
        </p:nvSpPr>
        <p:spPr>
          <a:xfrm>
            <a:off x="822960" y="4437863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for event handling</a:t>
            </a:r>
            <a:endParaRPr lang="en-US" sz="850" dirty="0"/>
          </a:p>
        </p:txBody>
      </p:sp>
      <p:sp>
        <p:nvSpPr>
          <p:cNvPr id="165" name="Shape 61">
            <a:extLst>
              <a:ext uri="{FF2B5EF4-FFF2-40B4-BE49-F238E27FC236}">
                <a16:creationId xmlns:a16="http://schemas.microsoft.com/office/drawing/2014/main" id="{247E3BC8-40AA-7F28-C90E-BAD4F5495332}"/>
              </a:ext>
            </a:extLst>
          </p:cNvPr>
          <p:cNvSpPr/>
          <p:nvPr/>
        </p:nvSpPr>
        <p:spPr>
          <a:xfrm>
            <a:off x="246888" y="4634459"/>
            <a:ext cx="11521440" cy="219456"/>
          </a:xfrm>
          <a:prstGeom prst="rect">
            <a:avLst/>
          </a:prstGeom>
          <a:solidFill>
            <a:srgbClr val="F4F7F4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6" name="Shape 62">
            <a:extLst>
              <a:ext uri="{FF2B5EF4-FFF2-40B4-BE49-F238E27FC236}">
                <a16:creationId xmlns:a16="http://schemas.microsoft.com/office/drawing/2014/main" id="{AA60E714-E962-1DB2-E032-F787D8A6D73A}"/>
              </a:ext>
            </a:extLst>
          </p:cNvPr>
          <p:cNvSpPr/>
          <p:nvPr/>
        </p:nvSpPr>
        <p:spPr>
          <a:xfrm>
            <a:off x="603504" y="4707611"/>
            <a:ext cx="91440" cy="6400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7" name="Text 63">
            <a:extLst>
              <a:ext uri="{FF2B5EF4-FFF2-40B4-BE49-F238E27FC236}">
                <a16:creationId xmlns:a16="http://schemas.microsoft.com/office/drawing/2014/main" id="{84E728E9-B12A-375A-3577-4D0AF02438D2}"/>
              </a:ext>
            </a:extLst>
          </p:cNvPr>
          <p:cNvSpPr/>
          <p:nvPr/>
        </p:nvSpPr>
        <p:spPr>
          <a:xfrm>
            <a:off x="749808" y="4634459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React Hooks</a:t>
            </a:r>
            <a:endParaRPr lang="en-US" sz="900" dirty="0"/>
          </a:p>
        </p:txBody>
      </p:sp>
      <p:sp>
        <p:nvSpPr>
          <p:cNvPr id="168" name="Shape 64">
            <a:extLst>
              <a:ext uri="{FF2B5EF4-FFF2-40B4-BE49-F238E27FC236}">
                <a16:creationId xmlns:a16="http://schemas.microsoft.com/office/drawing/2014/main" id="{42B111BB-2422-62F4-E02A-35F2E21C337D}"/>
              </a:ext>
            </a:extLst>
          </p:cNvPr>
          <p:cNvSpPr/>
          <p:nvPr/>
        </p:nvSpPr>
        <p:spPr>
          <a:xfrm>
            <a:off x="246888" y="4853915"/>
            <a:ext cx="11521440" cy="196596"/>
          </a:xfrm>
          <a:prstGeom prst="rect">
            <a:avLst/>
          </a:prstGeom>
          <a:solidFill>
            <a:srgbClr val="F9F9F9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9" name="Shape 65">
            <a:extLst>
              <a:ext uri="{FF2B5EF4-FFF2-40B4-BE49-F238E27FC236}">
                <a16:creationId xmlns:a16="http://schemas.microsoft.com/office/drawing/2014/main" id="{B31682C6-D860-40C3-B90E-042D0CBC932D}"/>
              </a:ext>
            </a:extLst>
          </p:cNvPr>
          <p:cNvSpPr/>
          <p:nvPr/>
        </p:nvSpPr>
        <p:spPr>
          <a:xfrm>
            <a:off x="969264" y="4924781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0" name="Text 66">
            <a:extLst>
              <a:ext uri="{FF2B5EF4-FFF2-40B4-BE49-F238E27FC236}">
                <a16:creationId xmlns:a16="http://schemas.microsoft.com/office/drawing/2014/main" id="{33808A26-E518-5EF4-D57F-66190EE0843F}"/>
              </a:ext>
            </a:extLst>
          </p:cNvPr>
          <p:cNvSpPr/>
          <p:nvPr/>
        </p:nvSpPr>
        <p:spPr>
          <a:xfrm>
            <a:off x="1078992" y="4853915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states and mutating them using useState</a:t>
            </a:r>
            <a:endParaRPr lang="en-US" sz="800" dirty="0"/>
          </a:p>
        </p:txBody>
      </p:sp>
      <p:sp>
        <p:nvSpPr>
          <p:cNvPr id="171" name="Shape 67">
            <a:extLst>
              <a:ext uri="{FF2B5EF4-FFF2-40B4-BE49-F238E27FC236}">
                <a16:creationId xmlns:a16="http://schemas.microsoft.com/office/drawing/2014/main" id="{D852F389-A95C-3A0D-B4CA-060CC928E295}"/>
              </a:ext>
            </a:extLst>
          </p:cNvPr>
          <p:cNvSpPr/>
          <p:nvPr/>
        </p:nvSpPr>
        <p:spPr>
          <a:xfrm>
            <a:off x="246888" y="5050511"/>
            <a:ext cx="11521440" cy="196596"/>
          </a:xfrm>
          <a:prstGeom prst="rect">
            <a:avLst/>
          </a:prstGeom>
          <a:solidFill>
            <a:srgbClr val="FDFDFD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2" name="Shape 68">
            <a:extLst>
              <a:ext uri="{FF2B5EF4-FFF2-40B4-BE49-F238E27FC236}">
                <a16:creationId xmlns:a16="http://schemas.microsoft.com/office/drawing/2014/main" id="{FBD607CD-A056-CF0D-34DA-1FD79BFBC74E}"/>
              </a:ext>
            </a:extLst>
          </p:cNvPr>
          <p:cNvSpPr/>
          <p:nvPr/>
        </p:nvSpPr>
        <p:spPr>
          <a:xfrm>
            <a:off x="969264" y="5121377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3" name="Text 69">
            <a:extLst>
              <a:ext uri="{FF2B5EF4-FFF2-40B4-BE49-F238E27FC236}">
                <a16:creationId xmlns:a16="http://schemas.microsoft.com/office/drawing/2014/main" id="{0B78CA45-B827-B3C2-0356-5FEDA5CFBDE2}"/>
              </a:ext>
            </a:extLst>
          </p:cNvPr>
          <p:cNvSpPr/>
          <p:nvPr/>
        </p:nvSpPr>
        <p:spPr>
          <a:xfrm>
            <a:off x="1078992" y="5050511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rendering</a:t>
            </a:r>
            <a:endParaRPr lang="en-US" sz="800" dirty="0"/>
          </a:p>
        </p:txBody>
      </p:sp>
      <p:sp>
        <p:nvSpPr>
          <p:cNvPr id="174" name="Shape 70">
            <a:extLst>
              <a:ext uri="{FF2B5EF4-FFF2-40B4-BE49-F238E27FC236}">
                <a16:creationId xmlns:a16="http://schemas.microsoft.com/office/drawing/2014/main" id="{33B104FC-2B8E-1C61-E203-EF23D06788F2}"/>
              </a:ext>
            </a:extLst>
          </p:cNvPr>
          <p:cNvSpPr/>
          <p:nvPr/>
        </p:nvSpPr>
        <p:spPr>
          <a:xfrm>
            <a:off x="246888" y="5247107"/>
            <a:ext cx="11521440" cy="196596"/>
          </a:xfrm>
          <a:prstGeom prst="rect">
            <a:avLst/>
          </a:prstGeom>
          <a:solidFill>
            <a:srgbClr val="F9F9F9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5" name="Shape 71">
            <a:extLst>
              <a:ext uri="{FF2B5EF4-FFF2-40B4-BE49-F238E27FC236}">
                <a16:creationId xmlns:a16="http://schemas.microsoft.com/office/drawing/2014/main" id="{F1B4A25B-B2F3-6CAF-12BC-B29AC9F03093}"/>
              </a:ext>
            </a:extLst>
          </p:cNvPr>
          <p:cNvSpPr/>
          <p:nvPr/>
        </p:nvSpPr>
        <p:spPr>
          <a:xfrm>
            <a:off x="969264" y="5317973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6" name="Text 72">
            <a:extLst>
              <a:ext uri="{FF2B5EF4-FFF2-40B4-BE49-F238E27FC236}">
                <a16:creationId xmlns:a16="http://schemas.microsoft.com/office/drawing/2014/main" id="{F9DDC76B-B785-86CC-E2E1-E00975CF2528}"/>
              </a:ext>
            </a:extLst>
          </p:cNvPr>
          <p:cNvSpPr/>
          <p:nvPr/>
        </p:nvSpPr>
        <p:spPr>
          <a:xfrm>
            <a:off x="1078992" y="5247107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for useEffect</a:t>
            </a:r>
            <a:endParaRPr lang="en-US" sz="800" dirty="0"/>
          </a:p>
        </p:txBody>
      </p:sp>
      <p:sp>
        <p:nvSpPr>
          <p:cNvPr id="177" name="Shape 73">
            <a:extLst>
              <a:ext uri="{FF2B5EF4-FFF2-40B4-BE49-F238E27FC236}">
                <a16:creationId xmlns:a16="http://schemas.microsoft.com/office/drawing/2014/main" id="{6B307578-8ECF-EEED-6651-D892D981825B}"/>
              </a:ext>
            </a:extLst>
          </p:cNvPr>
          <p:cNvSpPr/>
          <p:nvPr/>
        </p:nvSpPr>
        <p:spPr>
          <a:xfrm>
            <a:off x="246888" y="5443703"/>
            <a:ext cx="11521440" cy="196596"/>
          </a:xfrm>
          <a:prstGeom prst="rect">
            <a:avLst/>
          </a:prstGeom>
          <a:solidFill>
            <a:srgbClr val="FDFDFD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8" name="Shape 74">
            <a:extLst>
              <a:ext uri="{FF2B5EF4-FFF2-40B4-BE49-F238E27FC236}">
                <a16:creationId xmlns:a16="http://schemas.microsoft.com/office/drawing/2014/main" id="{818F7BCF-99C0-59A7-01D8-6B598CA4924D}"/>
              </a:ext>
            </a:extLst>
          </p:cNvPr>
          <p:cNvSpPr/>
          <p:nvPr/>
        </p:nvSpPr>
        <p:spPr>
          <a:xfrm>
            <a:off x="969264" y="5514569"/>
            <a:ext cx="54864" cy="54864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9" name="Text 75">
            <a:extLst>
              <a:ext uri="{FF2B5EF4-FFF2-40B4-BE49-F238E27FC236}">
                <a16:creationId xmlns:a16="http://schemas.microsoft.com/office/drawing/2014/main" id="{2148BCB3-23FD-2990-0BD9-87D88A48FB41}"/>
              </a:ext>
            </a:extLst>
          </p:cNvPr>
          <p:cNvSpPr/>
          <p:nvPr/>
        </p:nvSpPr>
        <p:spPr>
          <a:xfrm>
            <a:off x="1078992" y="5443703"/>
            <a:ext cx="101498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React Hooks</a:t>
            </a:r>
            <a:endParaRPr lang="en-US" sz="800" dirty="0"/>
          </a:p>
        </p:txBody>
      </p:sp>
      <p:sp>
        <p:nvSpPr>
          <p:cNvPr id="180" name="Shape 76">
            <a:extLst>
              <a:ext uri="{FF2B5EF4-FFF2-40B4-BE49-F238E27FC236}">
                <a16:creationId xmlns:a16="http://schemas.microsoft.com/office/drawing/2014/main" id="{E9ACA042-7151-37C9-84B7-881C195023B2}"/>
              </a:ext>
            </a:extLst>
          </p:cNvPr>
          <p:cNvSpPr/>
          <p:nvPr/>
        </p:nvSpPr>
        <p:spPr>
          <a:xfrm>
            <a:off x="246888" y="5640299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1" name="Shape 77">
            <a:extLst>
              <a:ext uri="{FF2B5EF4-FFF2-40B4-BE49-F238E27FC236}">
                <a16:creationId xmlns:a16="http://schemas.microsoft.com/office/drawing/2014/main" id="{936E5C65-5024-3F4F-B660-4E971C5DF49B}"/>
              </a:ext>
            </a:extLst>
          </p:cNvPr>
          <p:cNvSpPr/>
          <p:nvPr/>
        </p:nvSpPr>
        <p:spPr>
          <a:xfrm>
            <a:off x="347472" y="5681447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2" name="Text 78">
            <a:extLst>
              <a:ext uri="{FF2B5EF4-FFF2-40B4-BE49-F238E27FC236}">
                <a16:creationId xmlns:a16="http://schemas.microsoft.com/office/drawing/2014/main" id="{F834BCF2-E9F7-11A7-DED2-5C1809E64097}"/>
              </a:ext>
            </a:extLst>
          </p:cNvPr>
          <p:cNvSpPr/>
          <p:nvPr/>
        </p:nvSpPr>
        <p:spPr>
          <a:xfrm>
            <a:off x="347472" y="5681447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183" name="Text 79">
            <a:extLst>
              <a:ext uri="{FF2B5EF4-FFF2-40B4-BE49-F238E27FC236}">
                <a16:creationId xmlns:a16="http://schemas.microsoft.com/office/drawing/2014/main" id="{E4F06ADB-7BF0-3D12-58CC-97FB59F94B8A}"/>
              </a:ext>
            </a:extLst>
          </p:cNvPr>
          <p:cNvSpPr/>
          <p:nvPr/>
        </p:nvSpPr>
        <p:spPr>
          <a:xfrm>
            <a:off x="585216" y="5640299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 of SPA – Navigating Around using React Router</a:t>
            </a:r>
            <a:endParaRPr lang="en-US" sz="950" dirty="0"/>
          </a:p>
        </p:txBody>
      </p:sp>
      <p:sp>
        <p:nvSpPr>
          <p:cNvPr id="184" name="Text 80">
            <a:extLst>
              <a:ext uri="{FF2B5EF4-FFF2-40B4-BE49-F238E27FC236}">
                <a16:creationId xmlns:a16="http://schemas.microsoft.com/office/drawing/2014/main" id="{2BAA7B8B-8E3C-F0D6-0646-6236319D915C}"/>
              </a:ext>
            </a:extLst>
          </p:cNvPr>
          <p:cNvSpPr/>
          <p:nvPr/>
        </p:nvSpPr>
        <p:spPr>
          <a:xfrm>
            <a:off x="9619488" y="5640299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900" dirty="0"/>
          </a:p>
        </p:txBody>
      </p:sp>
      <p:sp>
        <p:nvSpPr>
          <p:cNvPr id="185" name="Shape 81">
            <a:extLst>
              <a:ext uri="{FF2B5EF4-FFF2-40B4-BE49-F238E27FC236}">
                <a16:creationId xmlns:a16="http://schemas.microsoft.com/office/drawing/2014/main" id="{6B57FD7A-B3DE-B75E-F099-8E3217CCCC11}"/>
              </a:ext>
            </a:extLst>
          </p:cNvPr>
          <p:cNvSpPr/>
          <p:nvPr/>
        </p:nvSpPr>
        <p:spPr>
          <a:xfrm>
            <a:off x="246888" y="5887187"/>
            <a:ext cx="11521440" cy="246888"/>
          </a:xfrm>
          <a:prstGeom prst="rect">
            <a:avLst/>
          </a:prstGeom>
          <a:solidFill>
            <a:srgbClr val="EAF0E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6" name="Shape 82">
            <a:extLst>
              <a:ext uri="{FF2B5EF4-FFF2-40B4-BE49-F238E27FC236}">
                <a16:creationId xmlns:a16="http://schemas.microsoft.com/office/drawing/2014/main" id="{C03CA043-C315-AAA8-5AF4-FBB325FDEBA0}"/>
              </a:ext>
            </a:extLst>
          </p:cNvPr>
          <p:cNvSpPr/>
          <p:nvPr/>
        </p:nvSpPr>
        <p:spPr>
          <a:xfrm>
            <a:off x="347472" y="5928335"/>
            <a:ext cx="164592" cy="164592"/>
          </a:xfrm>
          <a:prstGeom prst="ellipse">
            <a:avLst/>
          </a:prstGeom>
          <a:solidFill>
            <a:srgbClr val="2D6247"/>
          </a:solidFill>
          <a:ln w="12700">
            <a:solidFill>
              <a:srgbClr val="2D624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7" name="Text 83">
            <a:extLst>
              <a:ext uri="{FF2B5EF4-FFF2-40B4-BE49-F238E27FC236}">
                <a16:creationId xmlns:a16="http://schemas.microsoft.com/office/drawing/2014/main" id="{234FB2D9-9625-2EF5-0537-240510D36B44}"/>
              </a:ext>
            </a:extLst>
          </p:cNvPr>
          <p:cNvSpPr/>
          <p:nvPr/>
        </p:nvSpPr>
        <p:spPr>
          <a:xfrm>
            <a:off x="347472" y="5928335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188" name="Text 84">
            <a:extLst>
              <a:ext uri="{FF2B5EF4-FFF2-40B4-BE49-F238E27FC236}">
                <a16:creationId xmlns:a16="http://schemas.microsoft.com/office/drawing/2014/main" id="{070DB528-0FFF-6DA4-2B12-7489FC1CBD5F}"/>
              </a:ext>
            </a:extLst>
          </p:cNvPr>
          <p:cNvSpPr/>
          <p:nvPr/>
        </p:nvSpPr>
        <p:spPr>
          <a:xfrm>
            <a:off x="585216" y="5887187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Inputs with Forms</a:t>
            </a:r>
            <a:endParaRPr lang="en-US" sz="950" dirty="0"/>
          </a:p>
        </p:txBody>
      </p:sp>
      <p:sp>
        <p:nvSpPr>
          <p:cNvPr id="189" name="Text 85">
            <a:extLst>
              <a:ext uri="{FF2B5EF4-FFF2-40B4-BE49-F238E27FC236}">
                <a16:creationId xmlns:a16="http://schemas.microsoft.com/office/drawing/2014/main" id="{61694661-D827-0223-490F-5DA881CB08B5}"/>
              </a:ext>
            </a:extLst>
          </p:cNvPr>
          <p:cNvSpPr/>
          <p:nvPr/>
        </p:nvSpPr>
        <p:spPr>
          <a:xfrm>
            <a:off x="9619488" y="5887187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6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900" dirty="0"/>
          </a:p>
        </p:txBody>
      </p:sp>
      <p:sp>
        <p:nvSpPr>
          <p:cNvPr id="190" name="Shape 86">
            <a:extLst>
              <a:ext uri="{FF2B5EF4-FFF2-40B4-BE49-F238E27FC236}">
                <a16:creationId xmlns:a16="http://schemas.microsoft.com/office/drawing/2014/main" id="{DAC07EC1-6B8A-3008-CD67-F5D050037D46}"/>
              </a:ext>
            </a:extLst>
          </p:cNvPr>
          <p:cNvSpPr/>
          <p:nvPr/>
        </p:nvSpPr>
        <p:spPr>
          <a:xfrm>
            <a:off x="246888" y="6198083"/>
            <a:ext cx="11521440" cy="356616"/>
          </a:xfrm>
          <a:prstGeom prst="rect">
            <a:avLst/>
          </a:prstGeom>
          <a:solidFill>
            <a:srgbClr val="FFF3C4"/>
          </a:solidFill>
          <a:ln w="19050">
            <a:solidFill>
              <a:srgbClr val="E6B80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1" name="Text 87">
            <a:extLst>
              <a:ext uri="{FF2B5EF4-FFF2-40B4-BE49-F238E27FC236}">
                <a16:creationId xmlns:a16="http://schemas.microsoft.com/office/drawing/2014/main" id="{DAF1B15F-CDEC-241B-5417-124E37CFA58E}"/>
              </a:ext>
            </a:extLst>
          </p:cNvPr>
          <p:cNvSpPr/>
          <p:nvPr/>
        </p:nvSpPr>
        <p:spPr>
          <a:xfrm>
            <a:off x="384048" y="6216371"/>
            <a:ext cx="310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☕</a:t>
            </a:r>
            <a:endParaRPr lang="en-US" sz="1600" dirty="0"/>
          </a:p>
        </p:txBody>
      </p:sp>
      <p:sp>
        <p:nvSpPr>
          <p:cNvPr id="192" name="Text 88">
            <a:extLst>
              <a:ext uri="{FF2B5EF4-FFF2-40B4-BE49-F238E27FC236}">
                <a16:creationId xmlns:a16="http://schemas.microsoft.com/office/drawing/2014/main" id="{C71FFAE8-B5E9-5029-DDCE-D04322C9660A}"/>
              </a:ext>
            </a:extLst>
          </p:cNvPr>
          <p:cNvSpPr/>
          <p:nvPr/>
        </p:nvSpPr>
        <p:spPr>
          <a:xfrm>
            <a:off x="749808" y="6207227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5A3D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 BREAK</a:t>
            </a:r>
            <a:endParaRPr lang="en-US" sz="1100" dirty="0"/>
          </a:p>
        </p:txBody>
      </p:sp>
      <p:sp>
        <p:nvSpPr>
          <p:cNvPr id="193" name="Text 89">
            <a:extLst>
              <a:ext uri="{FF2B5EF4-FFF2-40B4-BE49-F238E27FC236}">
                <a16:creationId xmlns:a16="http://schemas.microsoft.com/office/drawing/2014/main" id="{3AA6E5AE-CA43-6EF8-8CD8-B28F39838CBB}"/>
              </a:ext>
            </a:extLst>
          </p:cNvPr>
          <p:cNvSpPr/>
          <p:nvPr/>
        </p:nvSpPr>
        <p:spPr>
          <a:xfrm>
            <a:off x="749808" y="6399251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8A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Refreshments  ·  Restroom  ·  Informal Q&amp;A</a:t>
            </a:r>
            <a:endParaRPr lang="en-US" sz="750" dirty="0"/>
          </a:p>
        </p:txBody>
      </p:sp>
      <p:sp>
        <p:nvSpPr>
          <p:cNvPr id="194" name="Text 90">
            <a:extLst>
              <a:ext uri="{FF2B5EF4-FFF2-40B4-BE49-F238E27FC236}">
                <a16:creationId xmlns:a16="http://schemas.microsoft.com/office/drawing/2014/main" id="{32FAB42F-6EB4-DCA0-73A4-88BABC4431F2}"/>
              </a:ext>
            </a:extLst>
          </p:cNvPr>
          <p:cNvSpPr/>
          <p:nvPr/>
        </p:nvSpPr>
        <p:spPr>
          <a:xfrm>
            <a:off x="8613648" y="6198083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3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~15 min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5733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2883B-E7C1-9FB4-ECD7-188EBAF98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74C19C-D2A3-D01A-03B3-33B59192E557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CBE545-6DEE-1EF9-F7C9-BBDA03E46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67EF8-C6D6-4FB9-24D3-F521647F0060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42D37F-0955-B4F1-E30E-FCD10CF7B58A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60F5A34-0D69-B079-9AB8-A9C7E3B484BD}"/>
              </a:ext>
            </a:extLst>
          </p:cNvPr>
          <p:cNvSpPr txBox="1"/>
          <p:nvPr/>
        </p:nvSpPr>
        <p:spPr>
          <a:xfrm>
            <a:off x="246888" y="711791"/>
            <a:ext cx="32803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WORKSHOP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OUTLINE</a:t>
            </a:r>
            <a:endParaRPr lang="en-PH" sz="24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BCE6E5-3FBC-E4EA-5E1A-AAC89E2427E0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BA08435-FCD2-D3FD-660C-36FB1A667803}"/>
              </a:ext>
            </a:extLst>
          </p:cNvPr>
          <p:cNvSpPr/>
          <p:nvPr/>
        </p:nvSpPr>
        <p:spPr>
          <a:xfrm>
            <a:off x="335280" y="1173456"/>
            <a:ext cx="11521440" cy="438912"/>
          </a:xfrm>
          <a:prstGeom prst="rect">
            <a:avLst/>
          </a:prstGeom>
          <a:solidFill>
            <a:srgbClr val="1C2C4A"/>
          </a:solidFill>
          <a:ln w="12700">
            <a:solidFill>
              <a:srgbClr val="1C2C4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4378315-E223-9B3D-C866-1BBE393CF055}"/>
              </a:ext>
            </a:extLst>
          </p:cNvPr>
          <p:cNvSpPr/>
          <p:nvPr/>
        </p:nvSpPr>
        <p:spPr>
          <a:xfrm>
            <a:off x="335280" y="1173456"/>
            <a:ext cx="64008" cy="438912"/>
          </a:xfrm>
          <a:prstGeom prst="rect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207A5C1-1BB3-31B0-73E2-7ACC2B49F55F}"/>
              </a:ext>
            </a:extLst>
          </p:cNvPr>
          <p:cNvSpPr/>
          <p:nvPr/>
        </p:nvSpPr>
        <p:spPr>
          <a:xfrm>
            <a:off x="445008" y="1173456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>
                    <a:alpha val="3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26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A035B89-79EA-BDCE-1D28-C1F14FDDADC5}"/>
              </a:ext>
            </a:extLst>
          </p:cNvPr>
          <p:cNvSpPr/>
          <p:nvPr/>
        </p:nvSpPr>
        <p:spPr>
          <a:xfrm>
            <a:off x="993648" y="1254639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Development</a:t>
            </a:r>
            <a:endParaRPr lang="en-US" sz="1400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3E26E4A1-E396-2EE6-F054-79FCC9128F6C}"/>
              </a:ext>
            </a:extLst>
          </p:cNvPr>
          <p:cNvSpPr/>
          <p:nvPr/>
        </p:nvSpPr>
        <p:spPr>
          <a:xfrm>
            <a:off x="10210800" y="1264896"/>
            <a:ext cx="1508760" cy="246888"/>
          </a:xfrm>
          <a:prstGeom prst="rect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2852C044-E64C-C8C0-845C-764726463000}"/>
              </a:ext>
            </a:extLst>
          </p:cNvPr>
          <p:cNvSpPr/>
          <p:nvPr/>
        </p:nvSpPr>
        <p:spPr>
          <a:xfrm>
            <a:off x="10210800" y="126489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HOURS</a:t>
            </a:r>
            <a:endParaRPr lang="en-US" sz="900" dirty="0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FF166072-3E65-3753-0B6F-3ACADDEF77E1}"/>
              </a:ext>
            </a:extLst>
          </p:cNvPr>
          <p:cNvSpPr/>
          <p:nvPr/>
        </p:nvSpPr>
        <p:spPr>
          <a:xfrm>
            <a:off x="345098" y="1739271"/>
            <a:ext cx="11521440" cy="201168"/>
          </a:xfrm>
          <a:prstGeom prst="rect">
            <a:avLst/>
          </a:prstGeom>
          <a:solidFill>
            <a:srgbClr val="243558"/>
          </a:solidFill>
          <a:ln w="12700">
            <a:solidFill>
              <a:srgbClr val="24355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B9F6DD93-99B7-0D33-44E2-FA407943A491}"/>
              </a:ext>
            </a:extLst>
          </p:cNvPr>
          <p:cNvSpPr/>
          <p:nvPr/>
        </p:nvSpPr>
        <p:spPr>
          <a:xfrm>
            <a:off x="482258" y="1739271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B8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75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E8D6E659-14CD-1E3F-302E-50635ED5CA46}"/>
              </a:ext>
            </a:extLst>
          </p:cNvPr>
          <p:cNvSpPr/>
          <p:nvPr/>
        </p:nvSpPr>
        <p:spPr>
          <a:xfrm>
            <a:off x="9717698" y="1739271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kern="0" spc="150" dirty="0">
                <a:solidFill>
                  <a:srgbClr val="B8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DURATION</a:t>
            </a:r>
            <a:endParaRPr lang="en-US" sz="750" dirty="0"/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06FEB042-50B0-D3EF-62BB-AF2F64816365}"/>
              </a:ext>
            </a:extLst>
          </p:cNvPr>
          <p:cNvSpPr/>
          <p:nvPr/>
        </p:nvSpPr>
        <p:spPr>
          <a:xfrm>
            <a:off x="345098" y="1940439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57413F05-B667-8984-033D-60BED38D0410}"/>
              </a:ext>
            </a:extLst>
          </p:cNvPr>
          <p:cNvSpPr/>
          <p:nvPr/>
        </p:nvSpPr>
        <p:spPr>
          <a:xfrm>
            <a:off x="445682" y="1981587"/>
            <a:ext cx="164592" cy="16459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6164C24B-E5D9-4585-0C5D-44894DF0DD18}"/>
              </a:ext>
            </a:extLst>
          </p:cNvPr>
          <p:cNvSpPr/>
          <p:nvPr/>
        </p:nvSpPr>
        <p:spPr>
          <a:xfrm>
            <a:off x="445682" y="1981587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EA94708D-D99E-C342-52E1-F2EB76A7CFE0}"/>
              </a:ext>
            </a:extLst>
          </p:cNvPr>
          <p:cNvSpPr/>
          <p:nvPr/>
        </p:nvSpPr>
        <p:spPr>
          <a:xfrm>
            <a:off x="683426" y="1940439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 for BACKEND</a:t>
            </a:r>
            <a:endParaRPr lang="en-US" sz="95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118B6E7F-9A0C-2988-3960-CF71671957A1}"/>
              </a:ext>
            </a:extLst>
          </p:cNvPr>
          <p:cNvSpPr/>
          <p:nvPr/>
        </p:nvSpPr>
        <p:spPr>
          <a:xfrm>
            <a:off x="9717698" y="1940439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</a:t>
            </a:r>
            <a:endParaRPr lang="en-US" sz="900" dirty="0"/>
          </a:p>
        </p:txBody>
      </p:sp>
      <p:sp>
        <p:nvSpPr>
          <p:cNvPr id="26" name="Shape 19">
            <a:extLst>
              <a:ext uri="{FF2B5EF4-FFF2-40B4-BE49-F238E27FC236}">
                <a16:creationId xmlns:a16="http://schemas.microsoft.com/office/drawing/2014/main" id="{5E6836D5-DBE4-A3FC-AE38-930E43ADEECA}"/>
              </a:ext>
            </a:extLst>
          </p:cNvPr>
          <p:cNvSpPr/>
          <p:nvPr/>
        </p:nvSpPr>
        <p:spPr>
          <a:xfrm>
            <a:off x="345098" y="2187327"/>
            <a:ext cx="11521440" cy="246888"/>
          </a:xfrm>
          <a:prstGeom prst="rect">
            <a:avLst/>
          </a:prstGeom>
          <a:solidFill>
            <a:srgbClr val="EAF0E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0">
            <a:extLst>
              <a:ext uri="{FF2B5EF4-FFF2-40B4-BE49-F238E27FC236}">
                <a16:creationId xmlns:a16="http://schemas.microsoft.com/office/drawing/2014/main" id="{653F8E81-69CA-1CC2-3C9C-CCD18BCC1989}"/>
              </a:ext>
            </a:extLst>
          </p:cNvPr>
          <p:cNvSpPr/>
          <p:nvPr/>
        </p:nvSpPr>
        <p:spPr>
          <a:xfrm>
            <a:off x="445682" y="2228475"/>
            <a:ext cx="164592" cy="16459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8A7DD147-838E-C2AD-88E5-28140534333C}"/>
              </a:ext>
            </a:extLst>
          </p:cNvPr>
          <p:cNvSpPr/>
          <p:nvPr/>
        </p:nvSpPr>
        <p:spPr>
          <a:xfrm>
            <a:off x="445682" y="2228475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DB1DC1AF-A7E6-3B14-958B-8FB5185A1332}"/>
              </a:ext>
            </a:extLst>
          </p:cNvPr>
          <p:cNvSpPr/>
          <p:nvPr/>
        </p:nvSpPr>
        <p:spPr>
          <a:xfrm>
            <a:off x="683426" y="2187327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Fundamentals (&amp; Concepts)</a:t>
            </a:r>
            <a:endParaRPr lang="en-US" sz="950" dirty="0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8C1A6426-DCF3-BC82-0BAF-60FC8B856DDF}"/>
              </a:ext>
            </a:extLst>
          </p:cNvPr>
          <p:cNvSpPr/>
          <p:nvPr/>
        </p:nvSpPr>
        <p:spPr>
          <a:xfrm>
            <a:off x="9717698" y="2187327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 min</a:t>
            </a:r>
            <a:endParaRPr lang="en-US" sz="900" dirty="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62628071-D147-7B70-BF1D-E6AAFE23684B}"/>
              </a:ext>
            </a:extLst>
          </p:cNvPr>
          <p:cNvSpPr/>
          <p:nvPr/>
        </p:nvSpPr>
        <p:spPr>
          <a:xfrm>
            <a:off x="345098" y="2434215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4D575E4E-F040-DE95-2755-927BB0D348BD}"/>
              </a:ext>
            </a:extLst>
          </p:cNvPr>
          <p:cNvSpPr/>
          <p:nvPr/>
        </p:nvSpPr>
        <p:spPr>
          <a:xfrm>
            <a:off x="793154" y="2498680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79D4ECCA-83AC-A57C-6C47-1FDDEE334DEC}"/>
              </a:ext>
            </a:extLst>
          </p:cNvPr>
          <p:cNvSpPr/>
          <p:nvPr/>
        </p:nvSpPr>
        <p:spPr>
          <a:xfrm>
            <a:off x="921170" y="2434215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and RESTful Endpoints</a:t>
            </a:r>
            <a:endParaRPr lang="en-US" sz="850" dirty="0"/>
          </a:p>
        </p:txBody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5CD53629-A144-1A93-3720-A3993B32F265}"/>
              </a:ext>
            </a:extLst>
          </p:cNvPr>
          <p:cNvSpPr/>
          <p:nvPr/>
        </p:nvSpPr>
        <p:spPr>
          <a:xfrm>
            <a:off x="345098" y="2630811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Shape 28">
            <a:extLst>
              <a:ext uri="{FF2B5EF4-FFF2-40B4-BE49-F238E27FC236}">
                <a16:creationId xmlns:a16="http://schemas.microsoft.com/office/drawing/2014/main" id="{623846CB-9C4D-C46F-2664-0110304D7E28}"/>
              </a:ext>
            </a:extLst>
          </p:cNvPr>
          <p:cNvSpPr/>
          <p:nvPr/>
        </p:nvSpPr>
        <p:spPr>
          <a:xfrm>
            <a:off x="793154" y="2695276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2420A170-C7E0-6FE3-AEDB-ECC60CE8E4F7}"/>
              </a:ext>
            </a:extLst>
          </p:cNvPr>
          <p:cNvSpPr/>
          <p:nvPr/>
        </p:nvSpPr>
        <p:spPr>
          <a:xfrm>
            <a:off x="921170" y="2630811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HTTP Requests (GET, POST, PUT, DELETE)</a:t>
            </a:r>
            <a:endParaRPr lang="en-US" sz="850" dirty="0"/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C059BF1E-A86A-038F-F20F-1EBD2AEA8C61}"/>
              </a:ext>
            </a:extLst>
          </p:cNvPr>
          <p:cNvSpPr/>
          <p:nvPr/>
        </p:nvSpPr>
        <p:spPr>
          <a:xfrm>
            <a:off x="345098" y="2827407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1">
            <a:extLst>
              <a:ext uri="{FF2B5EF4-FFF2-40B4-BE49-F238E27FC236}">
                <a16:creationId xmlns:a16="http://schemas.microsoft.com/office/drawing/2014/main" id="{83570800-D97F-3412-A974-C097814A5BB7}"/>
              </a:ext>
            </a:extLst>
          </p:cNvPr>
          <p:cNvSpPr/>
          <p:nvPr/>
        </p:nvSpPr>
        <p:spPr>
          <a:xfrm>
            <a:off x="793154" y="2891872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7D2C9198-689E-A633-A4B4-D4A9BA38E4C7}"/>
              </a:ext>
            </a:extLst>
          </p:cNvPr>
          <p:cNvSpPr/>
          <p:nvPr/>
        </p:nvSpPr>
        <p:spPr>
          <a:xfrm>
            <a:off x="921170" y="2827407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loading states, errors, and JSON responses</a:t>
            </a:r>
            <a:endParaRPr lang="en-US" sz="850" dirty="0"/>
          </a:p>
        </p:txBody>
      </p:sp>
      <p:sp>
        <p:nvSpPr>
          <p:cNvPr id="40" name="Shape 33">
            <a:extLst>
              <a:ext uri="{FF2B5EF4-FFF2-40B4-BE49-F238E27FC236}">
                <a16:creationId xmlns:a16="http://schemas.microsoft.com/office/drawing/2014/main" id="{F6639D40-D44E-9329-E3B4-311AFF7C5369}"/>
              </a:ext>
            </a:extLst>
          </p:cNvPr>
          <p:cNvSpPr/>
          <p:nvPr/>
        </p:nvSpPr>
        <p:spPr>
          <a:xfrm>
            <a:off x="345098" y="3024003"/>
            <a:ext cx="11521440" cy="246888"/>
          </a:xfrm>
          <a:prstGeom prst="rect">
            <a:avLst/>
          </a:prstGeom>
          <a:solidFill>
            <a:srgbClr val="EAF0E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4">
            <a:extLst>
              <a:ext uri="{FF2B5EF4-FFF2-40B4-BE49-F238E27FC236}">
                <a16:creationId xmlns:a16="http://schemas.microsoft.com/office/drawing/2014/main" id="{502257A6-3FE4-7E87-BA3F-FEFD645CA0F5}"/>
              </a:ext>
            </a:extLst>
          </p:cNvPr>
          <p:cNvSpPr/>
          <p:nvPr/>
        </p:nvSpPr>
        <p:spPr>
          <a:xfrm>
            <a:off x="445682" y="3065151"/>
            <a:ext cx="164592" cy="16459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35">
            <a:extLst>
              <a:ext uri="{FF2B5EF4-FFF2-40B4-BE49-F238E27FC236}">
                <a16:creationId xmlns:a16="http://schemas.microsoft.com/office/drawing/2014/main" id="{29035543-CAB4-2F7A-32B6-198DC32D0303}"/>
              </a:ext>
            </a:extLst>
          </p:cNvPr>
          <p:cNvSpPr/>
          <p:nvPr/>
        </p:nvSpPr>
        <p:spPr>
          <a:xfrm>
            <a:off x="445682" y="3065151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43" name="Text 36">
            <a:extLst>
              <a:ext uri="{FF2B5EF4-FFF2-40B4-BE49-F238E27FC236}">
                <a16:creationId xmlns:a16="http://schemas.microsoft.com/office/drawing/2014/main" id="{FB949255-B5B3-43DD-C307-523BE6952188}"/>
              </a:ext>
            </a:extLst>
          </p:cNvPr>
          <p:cNvSpPr/>
          <p:nvPr/>
        </p:nvSpPr>
        <p:spPr>
          <a:xfrm>
            <a:off x="683426" y="3024003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Authentication</a:t>
            </a:r>
            <a:endParaRPr lang="en-US" sz="950" dirty="0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E026AAB2-3449-CD9A-ED2C-913C21D52DE4}"/>
              </a:ext>
            </a:extLst>
          </p:cNvPr>
          <p:cNvSpPr/>
          <p:nvPr/>
        </p:nvSpPr>
        <p:spPr>
          <a:xfrm>
            <a:off x="9717698" y="3024003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min</a:t>
            </a:r>
            <a:endParaRPr lang="en-US" sz="900" dirty="0"/>
          </a:p>
        </p:txBody>
      </p:sp>
      <p:sp>
        <p:nvSpPr>
          <p:cNvPr id="45" name="Shape 38">
            <a:extLst>
              <a:ext uri="{FF2B5EF4-FFF2-40B4-BE49-F238E27FC236}">
                <a16:creationId xmlns:a16="http://schemas.microsoft.com/office/drawing/2014/main" id="{3632064A-0DA4-7849-C6CE-81AE9A2AA76D}"/>
              </a:ext>
            </a:extLst>
          </p:cNvPr>
          <p:cNvSpPr/>
          <p:nvPr/>
        </p:nvSpPr>
        <p:spPr>
          <a:xfrm>
            <a:off x="345098" y="3270891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39">
            <a:extLst>
              <a:ext uri="{FF2B5EF4-FFF2-40B4-BE49-F238E27FC236}">
                <a16:creationId xmlns:a16="http://schemas.microsoft.com/office/drawing/2014/main" id="{D6FC6672-6B21-5394-984B-279CC63B313A}"/>
              </a:ext>
            </a:extLst>
          </p:cNvPr>
          <p:cNvSpPr/>
          <p:nvPr/>
        </p:nvSpPr>
        <p:spPr>
          <a:xfrm>
            <a:off x="793154" y="3335356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Text 40">
            <a:extLst>
              <a:ext uri="{FF2B5EF4-FFF2-40B4-BE49-F238E27FC236}">
                <a16:creationId xmlns:a16="http://schemas.microsoft.com/office/drawing/2014/main" id="{30D3E768-0872-FF86-5F8D-C9A81603F5BD}"/>
              </a:ext>
            </a:extLst>
          </p:cNvPr>
          <p:cNvSpPr/>
          <p:nvPr/>
        </p:nvSpPr>
        <p:spPr>
          <a:xfrm>
            <a:off x="921170" y="3270891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authentication using JWT</a:t>
            </a:r>
            <a:endParaRPr lang="en-US" sz="850" dirty="0"/>
          </a:p>
        </p:txBody>
      </p:sp>
      <p:sp>
        <p:nvSpPr>
          <p:cNvPr id="48" name="Shape 41">
            <a:extLst>
              <a:ext uri="{FF2B5EF4-FFF2-40B4-BE49-F238E27FC236}">
                <a16:creationId xmlns:a16="http://schemas.microsoft.com/office/drawing/2014/main" id="{22164A8D-6869-D394-15A8-8A1F8CAA3F82}"/>
              </a:ext>
            </a:extLst>
          </p:cNvPr>
          <p:cNvSpPr/>
          <p:nvPr/>
        </p:nvSpPr>
        <p:spPr>
          <a:xfrm>
            <a:off x="345098" y="3467487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Shape 42">
            <a:extLst>
              <a:ext uri="{FF2B5EF4-FFF2-40B4-BE49-F238E27FC236}">
                <a16:creationId xmlns:a16="http://schemas.microsoft.com/office/drawing/2014/main" id="{98476CFF-E537-FE6B-2AA7-715AD2602B08}"/>
              </a:ext>
            </a:extLst>
          </p:cNvPr>
          <p:cNvSpPr/>
          <p:nvPr/>
        </p:nvSpPr>
        <p:spPr>
          <a:xfrm>
            <a:off x="793154" y="3531952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Text 43">
            <a:extLst>
              <a:ext uri="{FF2B5EF4-FFF2-40B4-BE49-F238E27FC236}">
                <a16:creationId xmlns:a16="http://schemas.microsoft.com/office/drawing/2014/main" id="{F5447CFF-853E-AD74-2BD5-8293CFEA93E9}"/>
              </a:ext>
            </a:extLst>
          </p:cNvPr>
          <p:cNvSpPr/>
          <p:nvPr/>
        </p:nvSpPr>
        <p:spPr>
          <a:xfrm>
            <a:off x="921170" y="3467487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</a:t>
            </a:r>
            <a:endParaRPr lang="en-US" sz="850" dirty="0"/>
          </a:p>
        </p:txBody>
      </p:sp>
      <p:sp>
        <p:nvSpPr>
          <p:cNvPr id="51" name="Shape 44">
            <a:extLst>
              <a:ext uri="{FF2B5EF4-FFF2-40B4-BE49-F238E27FC236}">
                <a16:creationId xmlns:a16="http://schemas.microsoft.com/office/drawing/2014/main" id="{C0856571-416A-296A-FC9D-BB6B1EEFE005}"/>
              </a:ext>
            </a:extLst>
          </p:cNvPr>
          <p:cNvSpPr/>
          <p:nvPr/>
        </p:nvSpPr>
        <p:spPr>
          <a:xfrm>
            <a:off x="345098" y="3664083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45">
            <a:extLst>
              <a:ext uri="{FF2B5EF4-FFF2-40B4-BE49-F238E27FC236}">
                <a16:creationId xmlns:a16="http://schemas.microsoft.com/office/drawing/2014/main" id="{123E1939-3E36-BC09-8EA9-83CF95193444}"/>
              </a:ext>
            </a:extLst>
          </p:cNvPr>
          <p:cNvSpPr/>
          <p:nvPr/>
        </p:nvSpPr>
        <p:spPr>
          <a:xfrm>
            <a:off x="445682" y="3705231"/>
            <a:ext cx="164592" cy="16459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3" name="Text 46">
            <a:extLst>
              <a:ext uri="{FF2B5EF4-FFF2-40B4-BE49-F238E27FC236}">
                <a16:creationId xmlns:a16="http://schemas.microsoft.com/office/drawing/2014/main" id="{B809F58B-CDD3-83A1-18F9-D1905143F049}"/>
              </a:ext>
            </a:extLst>
          </p:cNvPr>
          <p:cNvSpPr/>
          <p:nvPr/>
        </p:nvSpPr>
        <p:spPr>
          <a:xfrm>
            <a:off x="445682" y="3705231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54" name="Text 47">
            <a:extLst>
              <a:ext uri="{FF2B5EF4-FFF2-40B4-BE49-F238E27FC236}">
                <a16:creationId xmlns:a16="http://schemas.microsoft.com/office/drawing/2014/main" id="{91DAEA00-3F87-8E56-9E28-A9ADA1A0D24B}"/>
              </a:ext>
            </a:extLst>
          </p:cNvPr>
          <p:cNvSpPr/>
          <p:nvPr/>
        </p:nvSpPr>
        <p:spPr>
          <a:xfrm>
            <a:off x="683426" y="3664083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Integration</a:t>
            </a:r>
            <a:endParaRPr lang="en-US" sz="950" dirty="0"/>
          </a:p>
        </p:txBody>
      </p:sp>
      <p:sp>
        <p:nvSpPr>
          <p:cNvPr id="55" name="Text 48">
            <a:extLst>
              <a:ext uri="{FF2B5EF4-FFF2-40B4-BE49-F238E27FC236}">
                <a16:creationId xmlns:a16="http://schemas.microsoft.com/office/drawing/2014/main" id="{890C62CD-8612-9B69-5F30-F13B5C8C8C75}"/>
              </a:ext>
            </a:extLst>
          </p:cNvPr>
          <p:cNvSpPr/>
          <p:nvPr/>
        </p:nvSpPr>
        <p:spPr>
          <a:xfrm>
            <a:off x="9717698" y="3664083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min</a:t>
            </a:r>
            <a:endParaRPr lang="en-US" sz="900" dirty="0"/>
          </a:p>
        </p:txBody>
      </p:sp>
      <p:sp>
        <p:nvSpPr>
          <p:cNvPr id="56" name="Shape 49">
            <a:extLst>
              <a:ext uri="{FF2B5EF4-FFF2-40B4-BE49-F238E27FC236}">
                <a16:creationId xmlns:a16="http://schemas.microsoft.com/office/drawing/2014/main" id="{4ABE3989-2499-9617-6B92-097D86083AED}"/>
              </a:ext>
            </a:extLst>
          </p:cNvPr>
          <p:cNvSpPr/>
          <p:nvPr/>
        </p:nvSpPr>
        <p:spPr>
          <a:xfrm>
            <a:off x="345098" y="3910971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7" name="Shape 50">
            <a:extLst>
              <a:ext uri="{FF2B5EF4-FFF2-40B4-BE49-F238E27FC236}">
                <a16:creationId xmlns:a16="http://schemas.microsoft.com/office/drawing/2014/main" id="{DB12BDE7-CBD2-DA23-05FF-4D18E125B686}"/>
              </a:ext>
            </a:extLst>
          </p:cNvPr>
          <p:cNvSpPr/>
          <p:nvPr/>
        </p:nvSpPr>
        <p:spPr>
          <a:xfrm>
            <a:off x="793154" y="3975436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Text 51">
            <a:extLst>
              <a:ext uri="{FF2B5EF4-FFF2-40B4-BE49-F238E27FC236}">
                <a16:creationId xmlns:a16="http://schemas.microsoft.com/office/drawing/2014/main" id="{68033FF8-5DF1-7CFF-227B-894766CA8DB1}"/>
              </a:ext>
            </a:extLst>
          </p:cNvPr>
          <p:cNvSpPr/>
          <p:nvPr/>
        </p:nvSpPr>
        <p:spPr>
          <a:xfrm>
            <a:off x="921170" y="3910971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to a database (PostgreSQL / MongoDB)</a:t>
            </a:r>
            <a:endParaRPr lang="en-US" sz="850" dirty="0"/>
          </a:p>
        </p:txBody>
      </p:sp>
      <p:sp>
        <p:nvSpPr>
          <p:cNvPr id="59" name="Shape 52">
            <a:extLst>
              <a:ext uri="{FF2B5EF4-FFF2-40B4-BE49-F238E27FC236}">
                <a16:creationId xmlns:a16="http://schemas.microsoft.com/office/drawing/2014/main" id="{3456E40F-F72D-CAB1-A175-E119B92DE6DF}"/>
              </a:ext>
            </a:extLst>
          </p:cNvPr>
          <p:cNvSpPr/>
          <p:nvPr/>
        </p:nvSpPr>
        <p:spPr>
          <a:xfrm>
            <a:off x="345098" y="4107567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53">
            <a:extLst>
              <a:ext uri="{FF2B5EF4-FFF2-40B4-BE49-F238E27FC236}">
                <a16:creationId xmlns:a16="http://schemas.microsoft.com/office/drawing/2014/main" id="{7DC97122-F1C3-2D93-F0A3-905DDF90A921}"/>
              </a:ext>
            </a:extLst>
          </p:cNvPr>
          <p:cNvSpPr/>
          <p:nvPr/>
        </p:nvSpPr>
        <p:spPr>
          <a:xfrm>
            <a:off x="793154" y="4172032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Text 54">
            <a:extLst>
              <a:ext uri="{FF2B5EF4-FFF2-40B4-BE49-F238E27FC236}">
                <a16:creationId xmlns:a16="http://schemas.microsoft.com/office/drawing/2014/main" id="{F87A2BEC-4C82-53DF-BBF3-2638C43D176C}"/>
              </a:ext>
            </a:extLst>
          </p:cNvPr>
          <p:cNvSpPr/>
          <p:nvPr/>
        </p:nvSpPr>
        <p:spPr>
          <a:xfrm>
            <a:off x="921170" y="4107567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operations with an ORM / ODM</a:t>
            </a:r>
            <a:endParaRPr lang="en-US" sz="850" dirty="0"/>
          </a:p>
        </p:txBody>
      </p:sp>
      <p:sp>
        <p:nvSpPr>
          <p:cNvPr id="62" name="Shape 55">
            <a:extLst>
              <a:ext uri="{FF2B5EF4-FFF2-40B4-BE49-F238E27FC236}">
                <a16:creationId xmlns:a16="http://schemas.microsoft.com/office/drawing/2014/main" id="{7FB2EF6C-AD91-6C33-7EA6-450B7ED2404A}"/>
              </a:ext>
            </a:extLst>
          </p:cNvPr>
          <p:cNvSpPr/>
          <p:nvPr/>
        </p:nvSpPr>
        <p:spPr>
          <a:xfrm>
            <a:off x="345098" y="4304163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Shape 56">
            <a:extLst>
              <a:ext uri="{FF2B5EF4-FFF2-40B4-BE49-F238E27FC236}">
                <a16:creationId xmlns:a16="http://schemas.microsoft.com/office/drawing/2014/main" id="{861980E2-EB8C-4BF0-5B9A-C04D90CEA1FE}"/>
              </a:ext>
            </a:extLst>
          </p:cNvPr>
          <p:cNvSpPr/>
          <p:nvPr/>
        </p:nvSpPr>
        <p:spPr>
          <a:xfrm>
            <a:off x="793154" y="4368628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4" name="Text 57">
            <a:extLst>
              <a:ext uri="{FF2B5EF4-FFF2-40B4-BE49-F238E27FC236}">
                <a16:creationId xmlns:a16="http://schemas.microsoft.com/office/drawing/2014/main" id="{01DEF43F-2ED5-A86A-CA3F-4D5B88B71555}"/>
              </a:ext>
            </a:extLst>
          </p:cNvPr>
          <p:cNvSpPr/>
          <p:nvPr/>
        </p:nvSpPr>
        <p:spPr>
          <a:xfrm>
            <a:off x="921170" y="4304163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design fundamentals</a:t>
            </a:r>
            <a:endParaRPr lang="en-US" sz="850" dirty="0"/>
          </a:p>
        </p:txBody>
      </p:sp>
      <p:sp>
        <p:nvSpPr>
          <p:cNvPr id="65" name="Shape 58">
            <a:extLst>
              <a:ext uri="{FF2B5EF4-FFF2-40B4-BE49-F238E27FC236}">
                <a16:creationId xmlns:a16="http://schemas.microsoft.com/office/drawing/2014/main" id="{C2842727-60D1-3FE1-F55C-4983430996B7}"/>
              </a:ext>
            </a:extLst>
          </p:cNvPr>
          <p:cNvSpPr/>
          <p:nvPr/>
        </p:nvSpPr>
        <p:spPr>
          <a:xfrm>
            <a:off x="345098" y="4500759"/>
            <a:ext cx="11521440" cy="246888"/>
          </a:xfrm>
          <a:prstGeom prst="rect">
            <a:avLst/>
          </a:prstGeom>
          <a:solidFill>
            <a:srgbClr val="EEF2EE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6" name="Shape 59">
            <a:extLst>
              <a:ext uri="{FF2B5EF4-FFF2-40B4-BE49-F238E27FC236}">
                <a16:creationId xmlns:a16="http://schemas.microsoft.com/office/drawing/2014/main" id="{5E077908-E620-FF33-5770-05AB43480564}"/>
              </a:ext>
            </a:extLst>
          </p:cNvPr>
          <p:cNvSpPr/>
          <p:nvPr/>
        </p:nvSpPr>
        <p:spPr>
          <a:xfrm>
            <a:off x="445682" y="4541907"/>
            <a:ext cx="164592" cy="16459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Text 60">
            <a:extLst>
              <a:ext uri="{FF2B5EF4-FFF2-40B4-BE49-F238E27FC236}">
                <a16:creationId xmlns:a16="http://schemas.microsoft.com/office/drawing/2014/main" id="{D377A8D7-C346-37B7-7D20-471839B2FF90}"/>
              </a:ext>
            </a:extLst>
          </p:cNvPr>
          <p:cNvSpPr/>
          <p:nvPr/>
        </p:nvSpPr>
        <p:spPr>
          <a:xfrm>
            <a:off x="445682" y="4541907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68" name="Text 61">
            <a:extLst>
              <a:ext uri="{FF2B5EF4-FFF2-40B4-BE49-F238E27FC236}">
                <a16:creationId xmlns:a16="http://schemas.microsoft.com/office/drawing/2014/main" id="{40340C25-C5E4-77C6-1C06-108918AC05AA}"/>
              </a:ext>
            </a:extLst>
          </p:cNvPr>
          <p:cNvSpPr/>
          <p:nvPr/>
        </p:nvSpPr>
        <p:spPr>
          <a:xfrm>
            <a:off x="683426" y="4500759"/>
            <a:ext cx="8961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&amp; Q&amp;A</a:t>
            </a:r>
            <a:endParaRPr lang="en-US" sz="950" dirty="0"/>
          </a:p>
        </p:txBody>
      </p:sp>
      <p:sp>
        <p:nvSpPr>
          <p:cNvPr id="69" name="Text 62">
            <a:extLst>
              <a:ext uri="{FF2B5EF4-FFF2-40B4-BE49-F238E27FC236}">
                <a16:creationId xmlns:a16="http://schemas.microsoft.com/office/drawing/2014/main" id="{C29D817B-1DE3-6C8D-5B6A-E2635081FD7B}"/>
              </a:ext>
            </a:extLst>
          </p:cNvPr>
          <p:cNvSpPr/>
          <p:nvPr/>
        </p:nvSpPr>
        <p:spPr>
          <a:xfrm>
            <a:off x="9717698" y="4500759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900" dirty="0"/>
          </a:p>
        </p:txBody>
      </p:sp>
      <p:sp>
        <p:nvSpPr>
          <p:cNvPr id="70" name="Shape 63">
            <a:extLst>
              <a:ext uri="{FF2B5EF4-FFF2-40B4-BE49-F238E27FC236}">
                <a16:creationId xmlns:a16="http://schemas.microsoft.com/office/drawing/2014/main" id="{37FB5684-295F-16A2-6410-CACE0ED188D8}"/>
              </a:ext>
            </a:extLst>
          </p:cNvPr>
          <p:cNvSpPr/>
          <p:nvPr/>
        </p:nvSpPr>
        <p:spPr>
          <a:xfrm>
            <a:off x="345098" y="4747647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Shape 64">
            <a:extLst>
              <a:ext uri="{FF2B5EF4-FFF2-40B4-BE49-F238E27FC236}">
                <a16:creationId xmlns:a16="http://schemas.microsoft.com/office/drawing/2014/main" id="{E4254718-3E37-4228-F5FB-272D0A516770}"/>
              </a:ext>
            </a:extLst>
          </p:cNvPr>
          <p:cNvSpPr/>
          <p:nvPr/>
        </p:nvSpPr>
        <p:spPr>
          <a:xfrm>
            <a:off x="793154" y="4812112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Text 65">
            <a:extLst>
              <a:ext uri="{FF2B5EF4-FFF2-40B4-BE49-F238E27FC236}">
                <a16:creationId xmlns:a16="http://schemas.microsoft.com/office/drawing/2014/main" id="{3DB0849C-60AB-E558-9A3C-1F1C64096B82}"/>
              </a:ext>
            </a:extLst>
          </p:cNvPr>
          <p:cNvSpPr/>
          <p:nvPr/>
        </p:nvSpPr>
        <p:spPr>
          <a:xfrm>
            <a:off x="921170" y="4747647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&amp; recap</a:t>
            </a:r>
            <a:endParaRPr lang="en-US" sz="850" dirty="0"/>
          </a:p>
        </p:txBody>
      </p:sp>
      <p:sp>
        <p:nvSpPr>
          <p:cNvPr id="73" name="Shape 66">
            <a:extLst>
              <a:ext uri="{FF2B5EF4-FFF2-40B4-BE49-F238E27FC236}">
                <a16:creationId xmlns:a16="http://schemas.microsoft.com/office/drawing/2014/main" id="{36335BCF-6332-4BC3-FCFB-40234AE346E5}"/>
              </a:ext>
            </a:extLst>
          </p:cNvPr>
          <p:cNvSpPr/>
          <p:nvPr/>
        </p:nvSpPr>
        <p:spPr>
          <a:xfrm>
            <a:off x="345098" y="4944243"/>
            <a:ext cx="11521440" cy="196596"/>
          </a:xfrm>
          <a:prstGeom prst="rect">
            <a:avLst/>
          </a:prstGeom>
          <a:solidFill>
            <a:srgbClr val="FAFA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67">
            <a:extLst>
              <a:ext uri="{FF2B5EF4-FFF2-40B4-BE49-F238E27FC236}">
                <a16:creationId xmlns:a16="http://schemas.microsoft.com/office/drawing/2014/main" id="{63417EC5-A917-1CFF-B580-783BFAE437C4}"/>
              </a:ext>
            </a:extLst>
          </p:cNvPr>
          <p:cNvSpPr/>
          <p:nvPr/>
        </p:nvSpPr>
        <p:spPr>
          <a:xfrm>
            <a:off x="793154" y="5008708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Text 68">
            <a:extLst>
              <a:ext uri="{FF2B5EF4-FFF2-40B4-BE49-F238E27FC236}">
                <a16:creationId xmlns:a16="http://schemas.microsoft.com/office/drawing/2014/main" id="{CDF55FEC-DCF9-0AE5-9BB2-ECB98D774B44}"/>
              </a:ext>
            </a:extLst>
          </p:cNvPr>
          <p:cNvSpPr/>
          <p:nvPr/>
        </p:nvSpPr>
        <p:spPr>
          <a:xfrm>
            <a:off x="921170" y="4944243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floor Q&amp;A</a:t>
            </a:r>
            <a:endParaRPr lang="en-US" sz="850" dirty="0"/>
          </a:p>
        </p:txBody>
      </p:sp>
      <p:sp>
        <p:nvSpPr>
          <p:cNvPr id="76" name="Shape 69">
            <a:extLst>
              <a:ext uri="{FF2B5EF4-FFF2-40B4-BE49-F238E27FC236}">
                <a16:creationId xmlns:a16="http://schemas.microsoft.com/office/drawing/2014/main" id="{DED17BF2-1044-1458-721C-06922D95C1A2}"/>
              </a:ext>
            </a:extLst>
          </p:cNvPr>
          <p:cNvSpPr/>
          <p:nvPr/>
        </p:nvSpPr>
        <p:spPr>
          <a:xfrm>
            <a:off x="345098" y="5140839"/>
            <a:ext cx="11521440" cy="1965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Shape 70">
            <a:extLst>
              <a:ext uri="{FF2B5EF4-FFF2-40B4-BE49-F238E27FC236}">
                <a16:creationId xmlns:a16="http://schemas.microsoft.com/office/drawing/2014/main" id="{CE3E3BEA-B0A2-6793-5C94-925C0EE97337}"/>
              </a:ext>
            </a:extLst>
          </p:cNvPr>
          <p:cNvSpPr/>
          <p:nvPr/>
        </p:nvSpPr>
        <p:spPr>
          <a:xfrm>
            <a:off x="793154" y="5205304"/>
            <a:ext cx="67666" cy="67666"/>
          </a:xfrm>
          <a:prstGeom prst="ellipse">
            <a:avLst/>
          </a:prstGeom>
          <a:solidFill>
            <a:srgbClr val="5B8CF5"/>
          </a:solidFill>
          <a:ln w="12700">
            <a:solidFill>
              <a:srgbClr val="5B8CF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Text 71">
            <a:extLst>
              <a:ext uri="{FF2B5EF4-FFF2-40B4-BE49-F238E27FC236}">
                <a16:creationId xmlns:a16="http://schemas.microsoft.com/office/drawing/2014/main" id="{5D6445EE-9793-39F4-1D38-7C1B54BC6F50}"/>
              </a:ext>
            </a:extLst>
          </p:cNvPr>
          <p:cNvSpPr/>
          <p:nvPr/>
        </p:nvSpPr>
        <p:spPr>
          <a:xfrm>
            <a:off x="921170" y="5140839"/>
            <a:ext cx="10424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next steps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97987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0F827-7F16-DC13-82A0-803417A63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E05A5E-C496-4A02-45C3-0EC1D6865018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AE67B1-87D0-EE27-DDA9-D249E45137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79E82FE-BE66-CF92-1623-A6A85A92F47E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8E5594A-EB5C-F5E1-D38F-7754C97403F5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AA24F83-54CB-80A9-ABEC-009F3A9F7CE2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C1D90C-E91F-5E52-FD23-6BBBC224D46B}"/>
              </a:ext>
            </a:extLst>
          </p:cNvPr>
          <p:cNvSpPr txBox="1"/>
          <p:nvPr/>
        </p:nvSpPr>
        <p:spPr>
          <a:xfrm>
            <a:off x="10938914" y="6292889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744837-E86C-BDFA-7770-68AA7A62ACB7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BB7431-18D9-CD58-6E46-D48757284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266" y="1700784"/>
            <a:ext cx="5188758" cy="46092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515548-4182-273E-CD16-2E0DB268647B}"/>
              </a:ext>
            </a:extLst>
          </p:cNvPr>
          <p:cNvSpPr txBox="1"/>
          <p:nvPr/>
        </p:nvSpPr>
        <p:spPr>
          <a:xfrm>
            <a:off x="6263910" y="1469951"/>
            <a:ext cx="5209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MINIMUM SYSTEM REQUIREMENTS</a:t>
            </a:r>
            <a:endParaRPr lang="en-PH" sz="2400" dirty="0">
              <a:latin typeface="Aptos Black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1F678-A46D-E08B-E5B8-D56DFD8D24CE}"/>
              </a:ext>
            </a:extLst>
          </p:cNvPr>
          <p:cNvSpPr txBox="1"/>
          <p:nvPr/>
        </p:nvSpPr>
        <p:spPr>
          <a:xfrm>
            <a:off x="6403350" y="1925574"/>
            <a:ext cx="48346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 are the minimum system requirements: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At least </a:t>
            </a:r>
            <a:r>
              <a:rPr lang="en-US" b="1" dirty="0"/>
              <a:t>8 GB </a:t>
            </a:r>
            <a:r>
              <a:rPr lang="en-US" dirty="0"/>
              <a:t>of RAM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dirty="0"/>
              <a:t>Substantial </a:t>
            </a:r>
            <a:r>
              <a:rPr lang="en-PH" dirty="0"/>
              <a:t>amount of Storage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dirty="0"/>
              <a:t>Substantial </a:t>
            </a:r>
            <a:r>
              <a:rPr lang="en-PH" dirty="0"/>
              <a:t>CPU</a:t>
            </a:r>
            <a:endParaRPr lang="en-PH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D95918-D0E0-81D0-6BF3-9838CDF4B579}"/>
              </a:ext>
            </a:extLst>
          </p:cNvPr>
          <p:cNvSpPr txBox="1"/>
          <p:nvPr/>
        </p:nvSpPr>
        <p:spPr>
          <a:xfrm>
            <a:off x="6403350" y="3501265"/>
            <a:ext cx="41746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INSTALLED APPLICATIONS:</a:t>
            </a:r>
            <a:endParaRPr lang="en-PH" sz="2400" dirty="0">
              <a:latin typeface="Aptos Black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6D3BDA-DD7A-38DD-7AA4-887A95811719}"/>
              </a:ext>
            </a:extLst>
          </p:cNvPr>
          <p:cNvSpPr txBox="1"/>
          <p:nvPr/>
        </p:nvSpPr>
        <p:spPr>
          <a:xfrm>
            <a:off x="6403350" y="3969176"/>
            <a:ext cx="546556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Node JS - </a:t>
            </a:r>
            <a:r>
              <a:rPr lang="en-US" dirty="0">
                <a:hlinkClick r:id="rId4"/>
              </a:rPr>
              <a:t>https://nodejs.org/en/download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Preferred Text Editor (i.e. Sublime Text, VS Code, etc.)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dirty="0"/>
              <a:t>Preferred Browser (i.e. Google Chrome, Firefox,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PH" dirty="0"/>
          </a:p>
          <a:p>
            <a:r>
              <a:rPr lang="en-PH" dirty="0"/>
              <a:t>Optionally: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dirty="0"/>
              <a:t>Docker for Windows - </a:t>
            </a:r>
            <a:r>
              <a:rPr lang="en-PH" dirty="0">
                <a:hlinkClick r:id="rId5"/>
              </a:rPr>
              <a:t>https://www.docker.com/</a:t>
            </a:r>
            <a:endParaRPr lang="en-PH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dirty="0"/>
              <a:t>Git - </a:t>
            </a:r>
            <a:r>
              <a:rPr lang="en-PH" dirty="0">
                <a:hlinkClick r:id="rId6"/>
              </a:rPr>
              <a:t>https://git-scm.com/install/windows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312288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52226-7FC8-63B9-F375-B607C46FC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FB2CA9-0A88-24B9-6728-E6D798E62326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6555B1-C0B2-BC1C-FACF-A9A1FA0433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9D4020-A135-68BD-6ECD-4EF34BD87021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0F457D3-D355-74F1-3AA7-82033A86F1EE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B7E0BDA-B78A-56F4-3032-2F20EA0FA9D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86308-6B04-A4A2-2A42-853E45C3107F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38129-4BE4-B145-4DBB-9D479CEC397F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FEFD236-A82E-27B0-0FE3-A28BE1A01D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07" y="1701450"/>
            <a:ext cx="8519876" cy="42238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4594AAF-9D61-CDC8-6BD2-F4CE34BA62A1}"/>
              </a:ext>
            </a:extLst>
          </p:cNvPr>
          <p:cNvSpPr txBox="1"/>
          <p:nvPr/>
        </p:nvSpPr>
        <p:spPr>
          <a:xfrm>
            <a:off x="9040780" y="1952074"/>
            <a:ext cx="2601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INSTALLATION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CA30C4-D106-2D99-FE5E-DF4A05D409C0}"/>
              </a:ext>
            </a:extLst>
          </p:cNvPr>
          <p:cNvSpPr txBox="1"/>
          <p:nvPr/>
        </p:nvSpPr>
        <p:spPr>
          <a:xfrm>
            <a:off x="9093756" y="2520716"/>
            <a:ext cx="284680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Go to </a:t>
            </a:r>
            <a:r>
              <a:rPr lang="en-US" dirty="0">
                <a:hlinkClick r:id="rId4"/>
              </a:rPr>
              <a:t>https://nodejs.org/en/download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Select your </a:t>
            </a:r>
            <a:r>
              <a:rPr lang="en-US" b="1" dirty="0"/>
              <a:t>OS </a:t>
            </a:r>
            <a:r>
              <a:rPr lang="en-US" dirty="0"/>
              <a:t>and your </a:t>
            </a:r>
            <a:r>
              <a:rPr lang="en-US" b="1" dirty="0"/>
              <a:t>Architecture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Click on the </a:t>
            </a:r>
            <a:r>
              <a:rPr lang="en-US" b="1" dirty="0"/>
              <a:t>Installer Download </a:t>
            </a:r>
            <a:r>
              <a:rPr lang="en-US" dirty="0"/>
              <a:t>button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Follow the installation instruction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3BA5A1-1231-DD87-6436-28211F205FBC}"/>
              </a:ext>
            </a:extLst>
          </p:cNvPr>
          <p:cNvSpPr txBox="1"/>
          <p:nvPr/>
        </p:nvSpPr>
        <p:spPr>
          <a:xfrm>
            <a:off x="182907" y="5957489"/>
            <a:ext cx="67274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/>
              <a:t>Tip: To verify successful installation, run in the terminal </a:t>
            </a:r>
            <a:r>
              <a:rPr lang="en-US" sz="1600" b="1" i="1" dirty="0">
                <a:highlight>
                  <a:srgbClr val="FFFF00"/>
                </a:highlight>
              </a:rPr>
              <a:t>node -v </a:t>
            </a:r>
            <a:r>
              <a:rPr lang="en-US" sz="1600" i="1" dirty="0"/>
              <a:t>and </a:t>
            </a:r>
            <a:r>
              <a:rPr lang="en-US" sz="1600" b="1" i="1" dirty="0" err="1">
                <a:highlight>
                  <a:srgbClr val="FFFF00"/>
                </a:highlight>
              </a:rPr>
              <a:t>npm</a:t>
            </a:r>
            <a:r>
              <a:rPr lang="en-US" sz="1600" b="1" i="1" dirty="0">
                <a:highlight>
                  <a:srgbClr val="FFFF00"/>
                </a:highlight>
              </a:rPr>
              <a:t> -v</a:t>
            </a:r>
            <a:endParaRPr lang="en-PH" sz="1600" b="1" i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4205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47D66-0386-CB65-0168-6F302B0DA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2FA1CA-0290-1296-6263-F99FDC3499BF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81DB38-D529-01A5-C73A-2B6A35E6F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C0137E2-2791-5957-E267-F13B8998F194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F02A5B-2E76-B210-3D28-672577518442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2FF0767-62F6-12B5-E781-325D1C44C91D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1FD44-A264-A798-18C7-055B6C2992F0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DE0647-F1C0-9115-FBF2-6CAAE1E8D7BF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1B6FD3-E915-3507-F388-3AC6A6B4F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36" y="1417037"/>
            <a:ext cx="6477904" cy="50489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EB07BD-B03E-2CFB-5C32-6B384F80C8CB}"/>
              </a:ext>
            </a:extLst>
          </p:cNvPr>
          <p:cNvSpPr txBox="1"/>
          <p:nvPr/>
        </p:nvSpPr>
        <p:spPr>
          <a:xfrm>
            <a:off x="7336371" y="1650638"/>
            <a:ext cx="39850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CREATING YOUR FIRST</a:t>
            </a:r>
          </a:p>
          <a:p>
            <a:r>
              <a:rPr lang="en-US" sz="2800" dirty="0">
                <a:latin typeface="Aptos Black" panose="020B0004020202020204" pitchFamily="34" charset="0"/>
              </a:rPr>
              <a:t>REACT PROJECT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A981FE-F552-67A2-A6BA-9375B94B222D}"/>
              </a:ext>
            </a:extLst>
          </p:cNvPr>
          <p:cNvSpPr txBox="1"/>
          <p:nvPr/>
        </p:nvSpPr>
        <p:spPr>
          <a:xfrm>
            <a:off x="7369296" y="2721781"/>
            <a:ext cx="415137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Run </a:t>
            </a:r>
            <a:r>
              <a:rPr lang="en-US" b="1" i="1" dirty="0" err="1"/>
              <a:t>npx</a:t>
            </a:r>
            <a:r>
              <a:rPr lang="en-US" b="1" i="1" dirty="0"/>
              <a:t> </a:t>
            </a:r>
            <a:r>
              <a:rPr lang="en-US" b="1" i="1" dirty="0" err="1"/>
              <a:t>create-vite@latest</a:t>
            </a:r>
            <a:r>
              <a:rPr lang="en-US" i="1" dirty="0"/>
              <a:t> </a:t>
            </a:r>
            <a:r>
              <a:rPr lang="en-US" dirty="0"/>
              <a:t>command in your terminal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Name your </a:t>
            </a:r>
            <a:r>
              <a:rPr lang="en-US" b="1" dirty="0"/>
              <a:t>First Project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Name your </a:t>
            </a:r>
            <a:r>
              <a:rPr lang="en-US" b="1" dirty="0"/>
              <a:t>Package</a:t>
            </a:r>
            <a:r>
              <a:rPr lang="en-US" dirty="0"/>
              <a:t> (or just press </a:t>
            </a:r>
            <a:r>
              <a:rPr lang="en-US" b="1" dirty="0"/>
              <a:t>Enter</a:t>
            </a:r>
            <a:r>
              <a:rPr lang="en-US" dirty="0"/>
              <a:t> to skip it)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Select your preferred variant (Recommended: </a:t>
            </a:r>
            <a:r>
              <a:rPr lang="en-US" b="1" dirty="0"/>
              <a:t>Typescript + SWC</a:t>
            </a:r>
            <a:r>
              <a:rPr lang="en-US" dirty="0"/>
              <a:t>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b="1" dirty="0"/>
              <a:t>DON’T</a:t>
            </a:r>
            <a:r>
              <a:rPr lang="en-PH" dirty="0"/>
              <a:t> use Vite 8 beta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dirty="0"/>
              <a:t>You can optionally skip installation and start (Recommended: </a:t>
            </a:r>
            <a:r>
              <a:rPr lang="en-PH" b="1" dirty="0"/>
              <a:t>No</a:t>
            </a:r>
            <a:r>
              <a:rPr lang="en-PH" dirty="0"/>
              <a:t>)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ECB3C888-A7E1-150E-8EF3-E74E429B0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4964" y="1254740"/>
            <a:ext cx="2634935" cy="3511577"/>
          </a:xfrm>
          <a:prstGeom prst="rect">
            <a:avLst/>
          </a:prstGeom>
          <a:noFill/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5AE3CB3-1ADB-83EE-BCF5-EE09CCEB9FEA}"/>
              </a:ext>
            </a:extLst>
          </p:cNvPr>
          <p:cNvSpPr txBox="1"/>
          <p:nvPr/>
        </p:nvSpPr>
        <p:spPr>
          <a:xfrm>
            <a:off x="4424964" y="4550873"/>
            <a:ext cx="15055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Credits to: </a:t>
            </a:r>
            <a:r>
              <a:rPr lang="en-US" sz="800" i="1" dirty="0">
                <a:hlinkClick r:id="rId5"/>
              </a:rPr>
              <a:t>Coding with Parvez</a:t>
            </a:r>
            <a:endParaRPr lang="en-PH" sz="800" i="1" dirty="0"/>
          </a:p>
        </p:txBody>
      </p:sp>
    </p:spTree>
    <p:extLst>
      <p:ext uri="{BB962C8B-B14F-4D97-AF65-F5344CB8AC3E}">
        <p14:creationId xmlns:p14="http://schemas.microsoft.com/office/powerpoint/2010/main" val="366157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D73EC-773C-E1C5-C396-D540D7F51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AB16C2-EE0B-4388-D1FC-CDB67C0995EA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25A2D7-4E9A-0F14-A992-EE0FB9535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33E9C2-272B-12E8-FCAC-DB41D7DDC1B7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77C957-7049-8008-CE53-BA8EEEB65091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465752-D197-BD5E-AE28-DE383ACFEBF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B4696B-B6E1-FAF1-6CFC-582F4170A017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EE4CA5-5E9B-A106-636A-FF3A52D2DD29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12" name="Picture 4">
            <a:extLst>
              <a:ext uri="{FF2B5EF4-FFF2-40B4-BE49-F238E27FC236}">
                <a16:creationId xmlns:a16="http://schemas.microsoft.com/office/drawing/2014/main" id="{4453CCBD-DF92-482E-A581-BDFA6A7A0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339" y="1276251"/>
            <a:ext cx="4307491" cy="53426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D808A9A-60E5-76B4-D4CF-6D5A3032CF69}"/>
              </a:ext>
            </a:extLst>
          </p:cNvPr>
          <p:cNvSpPr txBox="1"/>
          <p:nvPr/>
        </p:nvSpPr>
        <p:spPr>
          <a:xfrm>
            <a:off x="426339" y="6400087"/>
            <a:ext cx="18389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Credits to: </a:t>
            </a:r>
            <a:r>
              <a:rPr lang="en-US" sz="1000" i="1" dirty="0">
                <a:hlinkClick r:id="rId4"/>
              </a:rPr>
              <a:t>Coding with Parvez</a:t>
            </a:r>
            <a:endParaRPr lang="en-PH" sz="10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1B6BD1-303D-6E91-6057-7CC820BC0256}"/>
              </a:ext>
            </a:extLst>
          </p:cNvPr>
          <p:cNvSpPr txBox="1"/>
          <p:nvPr/>
        </p:nvSpPr>
        <p:spPr>
          <a:xfrm>
            <a:off x="5288185" y="1370480"/>
            <a:ext cx="520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PROJECT FOLDER STRUCTURE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55FC44-78F1-2EEA-E2D9-5C9744BE84BD}"/>
              </a:ext>
            </a:extLst>
          </p:cNvPr>
          <p:cNvSpPr txBox="1"/>
          <p:nvPr/>
        </p:nvSpPr>
        <p:spPr>
          <a:xfrm>
            <a:off x="5308878" y="1893700"/>
            <a:ext cx="630400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i="1" dirty="0"/>
              <a:t>components/  </a:t>
            </a:r>
            <a:r>
              <a:rPr lang="en-PH" dirty="0"/>
              <a:t>- contains your </a:t>
            </a:r>
            <a:r>
              <a:rPr lang="en-PH" b="1" dirty="0"/>
              <a:t>React Components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i="1" dirty="0"/>
              <a:t>pages/</a:t>
            </a:r>
            <a:r>
              <a:rPr lang="en-PH" i="1" dirty="0"/>
              <a:t> - </a:t>
            </a:r>
            <a:r>
              <a:rPr lang="en-PH" dirty="0"/>
              <a:t>stores your </a:t>
            </a:r>
            <a:r>
              <a:rPr lang="en-PH" b="1" dirty="0"/>
              <a:t>Pages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i="1" dirty="0"/>
              <a:t>assets/ </a:t>
            </a:r>
            <a:r>
              <a:rPr lang="en-PH" dirty="0"/>
              <a:t>-</a:t>
            </a:r>
            <a:r>
              <a:rPr lang="en-PH" b="1" i="1" dirty="0"/>
              <a:t> </a:t>
            </a:r>
            <a:r>
              <a:rPr lang="en-PH" dirty="0"/>
              <a:t>contains all your images and other file formats (i.e. Font Files)</a:t>
            </a:r>
          </a:p>
          <a:p>
            <a:endParaRPr lang="en-PH" dirty="0"/>
          </a:p>
          <a:p>
            <a:r>
              <a:rPr lang="en-PH" i="1" dirty="0"/>
              <a:t>Note: This is what typically project folder look like on small / micro sites (i.e. Personal Websites, etc.)</a:t>
            </a:r>
          </a:p>
        </p:txBody>
      </p:sp>
    </p:spTree>
    <p:extLst>
      <p:ext uri="{BB962C8B-B14F-4D97-AF65-F5344CB8AC3E}">
        <p14:creationId xmlns:p14="http://schemas.microsoft.com/office/powerpoint/2010/main" val="1022603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61C00-E8C7-A658-09EA-B0074A52D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57C7ED-803B-6DFC-89B8-F22463921686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4C4B95-31DB-8641-00B2-1DB84E206E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A4AF9B-C4E7-B12C-2B55-341602909505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1D149E-7E42-47A2-15E8-2B09FAF70A95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4B9B902-F7F1-7958-FF93-2BCA4A8E7E6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2A9BCF-A4E5-C158-C672-531287BE9F41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66CCBC-78D6-7F6B-BB2B-E3C40584933E}"/>
              </a:ext>
            </a:extLst>
          </p:cNvPr>
          <p:cNvSpPr txBox="1"/>
          <p:nvPr/>
        </p:nvSpPr>
        <p:spPr>
          <a:xfrm>
            <a:off x="246888" y="713232"/>
            <a:ext cx="71620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ptos Black" panose="020B0004020202020204" pitchFamily="34" charset="0"/>
              </a:rPr>
              <a:t>HANDS-ON </a:t>
            </a:r>
            <a:r>
              <a:rPr lang="en-US" sz="3600" dirty="0">
                <a:solidFill>
                  <a:schemeClr val="bg1">
                    <a:lumMod val="75000"/>
                  </a:schemeClr>
                </a:solidFill>
                <a:latin typeface="Aptos Black" panose="020B0004020202020204" pitchFamily="34" charset="0"/>
              </a:rPr>
              <a:t>REACT APPLICATION</a:t>
            </a:r>
            <a:endParaRPr lang="en-PH" sz="3600" dirty="0">
              <a:solidFill>
                <a:schemeClr val="bg1">
                  <a:lumMod val="75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8F5F91-B78A-F2B6-4A7D-CFBA8A9E4C71}"/>
              </a:ext>
            </a:extLst>
          </p:cNvPr>
          <p:cNvSpPr txBox="1"/>
          <p:nvPr/>
        </p:nvSpPr>
        <p:spPr>
          <a:xfrm>
            <a:off x="246888" y="1272349"/>
            <a:ext cx="4422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ptos Black" panose="020B0004020202020204" pitchFamily="34" charset="0"/>
              </a:rPr>
              <a:t>CODE WORKSHOP (FRONTEND) – DAY 1</a:t>
            </a:r>
            <a:endParaRPr lang="en-PH" dirty="0">
              <a:solidFill>
                <a:schemeClr val="tx2">
                  <a:lumMod val="75000"/>
                  <a:lumOff val="25000"/>
                </a:schemeClr>
              </a:solidFill>
              <a:latin typeface="Aptos Black" panose="020B00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EE86C3E-2782-E08B-7903-982629BAF934}"/>
              </a:ext>
            </a:extLst>
          </p:cNvPr>
          <p:cNvCxnSpPr>
            <a:cxnSpLocks/>
          </p:cNvCxnSpPr>
          <p:nvPr/>
        </p:nvCxnSpPr>
        <p:spPr>
          <a:xfrm>
            <a:off x="246888" y="1669196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2D0D2956-07DC-0AFD-DB06-6DABBA564D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90" y="1410730"/>
            <a:ext cx="3584448" cy="201827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EE6C21A-A44E-E265-30EF-42189EF174D2}"/>
              </a:ext>
            </a:extLst>
          </p:cNvPr>
          <p:cNvSpPr txBox="1"/>
          <p:nvPr/>
        </p:nvSpPr>
        <p:spPr>
          <a:xfrm>
            <a:off x="828675" y="3111269"/>
            <a:ext cx="10107740" cy="27469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Pre-requisites: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Knows HTMLS / CSS / JavaScript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Familiar with TypeScript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PH" dirty="0"/>
              <a:t>Any preferred Text/Code Editors (e.g. VS Code </a:t>
            </a:r>
            <a:r>
              <a:rPr lang="en-PH" b="1" dirty="0"/>
              <a:t>[RECOMMENDED]</a:t>
            </a:r>
            <a:r>
              <a:rPr lang="en-PH" dirty="0"/>
              <a:t>, Notepad++, </a:t>
            </a:r>
            <a:r>
              <a:rPr lang="en-PH" dirty="0" err="1"/>
              <a:t>Neovim</a:t>
            </a:r>
            <a:r>
              <a:rPr lang="en-PH" dirty="0"/>
              <a:t>, etc.)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PH" dirty="0"/>
              <a:t>Node JS &amp; Node Package Manager (NPM)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PH" dirty="0"/>
              <a:t>Terminal (e.g. </a:t>
            </a:r>
            <a:r>
              <a:rPr lang="en-PH" dirty="0" err="1"/>
              <a:t>Gitbash</a:t>
            </a:r>
            <a:r>
              <a:rPr lang="en-PH" dirty="0"/>
              <a:t>, etc.)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PH" dirty="0"/>
          </a:p>
          <a:p>
            <a:r>
              <a:rPr lang="en-US" sz="1050" i="1" dirty="0"/>
              <a:t>Note: most developers use </a:t>
            </a:r>
            <a:r>
              <a:rPr lang="en-US" sz="1050" b="1" i="1" dirty="0"/>
              <a:t>Node Version Manager (NVM) </a:t>
            </a:r>
            <a:r>
              <a:rPr lang="en-US" sz="1050" i="1" dirty="0"/>
              <a:t>to install Node JS &amp; Node Package Manager.</a:t>
            </a:r>
            <a:endParaRPr lang="en-PH" sz="1050" i="1" dirty="0"/>
          </a:p>
        </p:txBody>
      </p:sp>
    </p:spTree>
    <p:extLst>
      <p:ext uri="{BB962C8B-B14F-4D97-AF65-F5344CB8AC3E}">
        <p14:creationId xmlns:p14="http://schemas.microsoft.com/office/powerpoint/2010/main" val="4245684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26461-778A-D3E5-4C48-F2168536D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97854A-CE4E-6AF6-115B-F2D2A7520779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AFE6DE-0FFF-C26C-5D15-0A04DB0D0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BA651D-65F0-920F-F16A-DB173828EF1C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850B5F-43D9-274F-3461-4D4431D3FF5D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674A659-C195-214E-9BBF-2DAFCC8F51BE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D3856-8DB3-D3B9-2C2B-6DA613710F05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718C8-A437-31BB-767C-53F56EBACDF0}"/>
              </a:ext>
            </a:extLst>
          </p:cNvPr>
          <p:cNvSpPr txBox="1"/>
          <p:nvPr/>
        </p:nvSpPr>
        <p:spPr>
          <a:xfrm>
            <a:off x="246888" y="713232"/>
            <a:ext cx="71620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ptos Black" panose="020B0004020202020204" pitchFamily="34" charset="0"/>
              </a:rPr>
              <a:t>HANDS-ON </a:t>
            </a:r>
            <a:r>
              <a:rPr lang="en-US" sz="3600" dirty="0">
                <a:solidFill>
                  <a:schemeClr val="bg1">
                    <a:lumMod val="75000"/>
                  </a:schemeClr>
                </a:solidFill>
                <a:latin typeface="Aptos Black" panose="020B0004020202020204" pitchFamily="34" charset="0"/>
              </a:rPr>
              <a:t>REACT APPLICATION</a:t>
            </a:r>
            <a:endParaRPr lang="en-PH" sz="3600" dirty="0">
              <a:solidFill>
                <a:schemeClr val="bg1">
                  <a:lumMod val="75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2F2E04-200A-83F7-AA3A-027B649FA331}"/>
              </a:ext>
            </a:extLst>
          </p:cNvPr>
          <p:cNvSpPr txBox="1"/>
          <p:nvPr/>
        </p:nvSpPr>
        <p:spPr>
          <a:xfrm>
            <a:off x="246888" y="1272349"/>
            <a:ext cx="4422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ptos Black" panose="020B0004020202020204" pitchFamily="34" charset="0"/>
              </a:rPr>
              <a:t>CODE WORKSHOP (FRONTEND) – DAY 1</a:t>
            </a:r>
            <a:endParaRPr lang="en-PH" dirty="0">
              <a:solidFill>
                <a:schemeClr val="tx2">
                  <a:lumMod val="75000"/>
                  <a:lumOff val="25000"/>
                </a:schemeClr>
              </a:solidFill>
              <a:latin typeface="Aptos Black" panose="020B00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794FE33-12BC-031B-5E9F-D1BC85DDF19F}"/>
              </a:ext>
            </a:extLst>
          </p:cNvPr>
          <p:cNvCxnSpPr>
            <a:cxnSpLocks/>
          </p:cNvCxnSpPr>
          <p:nvPr/>
        </p:nvCxnSpPr>
        <p:spPr>
          <a:xfrm>
            <a:off x="246888" y="1669196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A81590E-7B11-B7CE-E149-FDA1646087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90" y="1410730"/>
            <a:ext cx="3584448" cy="20182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4A6C33B-5758-4A9A-CBFE-B963F6A33DA2}"/>
              </a:ext>
            </a:extLst>
          </p:cNvPr>
          <p:cNvSpPr txBox="1"/>
          <p:nvPr/>
        </p:nvSpPr>
        <p:spPr>
          <a:xfrm>
            <a:off x="5890674" y="3058286"/>
            <a:ext cx="64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Please do note that our activity is </a:t>
            </a:r>
            <a:r>
              <a:rPr lang="en-US" b="1" dirty="0"/>
              <a:t>open</a:t>
            </a:r>
            <a:r>
              <a:rPr lang="en-US" dirty="0"/>
              <a:t> and </a:t>
            </a:r>
            <a:r>
              <a:rPr lang="en-US" b="1" dirty="0"/>
              <a:t>free</a:t>
            </a:r>
            <a:r>
              <a:rPr lang="en-US" dirty="0"/>
              <a:t> to download.</a:t>
            </a:r>
            <a:r>
              <a:rPr lang="en-PH" dirty="0"/>
              <a:t> Everything you need will be in this </a:t>
            </a:r>
            <a:r>
              <a:rPr lang="en-PH" dirty="0" err="1"/>
              <a:t>github</a:t>
            </a:r>
            <a:r>
              <a:rPr lang="en-PH" dirty="0"/>
              <a:t> repository:</a:t>
            </a:r>
          </a:p>
          <a:p>
            <a:endParaRPr lang="en-PH" dirty="0"/>
          </a:p>
          <a:p>
            <a:r>
              <a:rPr lang="en-US" dirty="0">
                <a:hlinkClick r:id="rId4"/>
              </a:rPr>
              <a:t>https://github.com/Cpm-X-Dev/ViteReactDemo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Clone command: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AA4CB0-8B5A-0C06-5752-69EEFB0B4445}"/>
              </a:ext>
            </a:extLst>
          </p:cNvPr>
          <p:cNvSpPr txBox="1"/>
          <p:nvPr/>
        </p:nvSpPr>
        <p:spPr>
          <a:xfrm>
            <a:off x="5918106" y="4776036"/>
            <a:ext cx="6057171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PH" dirty="0"/>
              <a:t>git clone https://github.com/Cpm-X-Dev/ViteReactDemo.git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25F3E04-B87C-95C3-1472-BED8445378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007" y="3017694"/>
            <a:ext cx="5459127" cy="3556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65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999</Words>
  <Application>Microsoft Office PowerPoint</Application>
  <PresentationFormat>Widescreen</PresentationFormat>
  <Paragraphs>221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Aptos</vt:lpstr>
      <vt:lpstr>Aptos Black</vt:lpstr>
      <vt:lpstr>Aptos Display</vt:lpstr>
      <vt:lpstr>Arial</vt:lpstr>
      <vt:lpstr>Calibri</vt:lpstr>
      <vt:lpstr>Georgia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OverZenith</dc:creator>
  <cp:lastModifiedBy>OverZenith</cp:lastModifiedBy>
  <cp:revision>24</cp:revision>
  <dcterms:created xsi:type="dcterms:W3CDTF">2026-02-26T13:50:11Z</dcterms:created>
  <dcterms:modified xsi:type="dcterms:W3CDTF">2026-03-09T15:55:32Z</dcterms:modified>
</cp:coreProperties>
</file>