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66" r:id="rId6"/>
    <p:sldId id="269" r:id="rId7"/>
    <p:sldId id="270" r:id="rId8"/>
    <p:sldId id="272" r:id="rId9"/>
    <p:sldId id="273" r:id="rId10"/>
    <p:sldId id="275" r:id="rId11"/>
    <p:sldId id="267" r:id="rId12"/>
    <p:sldId id="268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EBB0-9AF0-9C17-2C1B-F63AEAF58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36F9A-42BC-C1D9-2B0A-F08139C9E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36850-9DA1-A805-D4E2-3DB3A357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67ECB-54C3-6BA6-7588-7B204B96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5FCC-8FA1-2002-6E22-5AEF3B73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855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1AEB-B2D8-1C99-3C23-00189D60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7D4B-3F8F-F0E7-9B84-F248AA065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7628F-130D-7C1F-BDAB-FE0DEC1A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015C2-2F0F-36A8-00E2-7F04E4EB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1F20D-C1E3-EE0E-D74D-B5E3AF25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6542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9860-07BA-9746-C7DD-37432A64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713E-1ECB-D4DC-09A6-42549B987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5060A-F6AB-12AD-6205-FCD3304D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7881A-5FFB-1556-A510-F92DC96C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6CFD5-5940-DC62-46EB-EFF0B414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627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0174-CEC4-7966-C5F4-4DB466B1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747B7-8C97-168D-81B3-786262CB6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5FA45-BBC3-14AB-DD0E-4301705CB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89519-BDE5-ADC3-AC89-5CAD3EC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57570-FAA2-C483-A53C-B376FE3CC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27F42-7410-B23D-5A1D-B693A575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841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2A5B-8C6A-74BC-2163-BC28A11B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8E653-9AE5-2636-44E3-0003F2E42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6AF44-2D49-B3D5-1A5B-6F54C01BF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27EA0-8C8A-B9D9-5CAE-A9D292459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9E700-4E83-AF01-8978-26850BC97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424E1-15CE-9C26-2705-756AE8E0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1EC1C-A053-0BA3-E436-A8B56ED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F9170-2A6D-9245-3878-5DBADE60D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381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A07E-3A9E-0C86-4711-0835C3A7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C8FCE-E482-4E88-2DE7-F3602783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D4AE3-2C0C-8FB9-3EA2-4C80A351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CFBD1-39C4-D692-6D1A-DB243A59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734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65897-7DE9-0C14-58E8-B101D70E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8557F-4879-9C2B-F0EF-89FB283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261BE-B345-5952-47B5-BAB252B2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5014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5D8B-A22F-9DF0-0A5E-DB03632D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61154-C98B-871C-6F45-482F49D7D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3FCBF-F090-E70F-0FC2-4151A09AC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09D3A-6F30-55AF-A6F5-3AB54C28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10FB6-999D-ED56-118F-99DBB23D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89B7C-55BD-50D1-70FB-BDBB154DF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109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10B2-21E7-FD6C-982C-3E15C92EF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B557D-3670-DE51-0F42-52D0946F6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EAF4B-1078-F96E-2C59-E015DCDF2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23785-456E-D8EF-1994-1A7372FA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5BF99-F101-588D-D1DC-C8938DC2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4E3A9-C1F8-F86E-269B-7ED7BE2B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41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732D-C13A-57C1-2C8D-A5177D0D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86E88-8EDA-3273-F8BE-26BF30A9F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D6156-20BD-8374-AAFC-B89E26A7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81E27-9070-7845-3CD4-993434E3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BBFC5-FB73-E142-4841-037EBFC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061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00C218-BAD5-6E45-E1E3-545CA44DC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AAC2E-30D9-EC54-98A4-586D2FD5C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E86A6-9B47-2952-1874-BDBBE873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EA74F-E767-7809-AB13-23A2F499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23CA8-AA5F-1D22-0027-417B7B9E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132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8616BC-83EA-2A3E-9A7B-9FFD61F37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2B35B-7FCB-210B-A266-580E7DF4B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E39D0-A3DC-C3BE-BC5A-539C312E6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4625C-03B8-46B3-ABE1-25C5A90DD2C7}" type="datetimeFigureOut">
              <a:rPr lang="en-PH" smtClean="0"/>
              <a:t>3/2/2026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BF259-11CD-5795-49A4-63894A318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14BEA-C572-4219-1CDF-F8D533BD9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8252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-scm.com/install/windows" TargetMode="External"/><Relationship Id="rId5" Type="http://schemas.openxmlformats.org/officeDocument/2006/relationships/hyperlink" Target="https://www.docker.com/" TargetMode="External"/><Relationship Id="rId4" Type="http://schemas.openxmlformats.org/officeDocument/2006/relationships/hyperlink" Target="https://nodejs.org/en/downloa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odejs.org/en/downloa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acebook.com/photo/?fbid=122159955812934855&amp;set=a.122094378662934855" TargetMode="Externa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acebook.com/codingwithparvez/posts/learn-react-faster-by-understanding-the-vite-file-structure-know-where-component/122149853750934855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localhost:5173/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acebook.com/codingwithparvez/posts/pfbid06hsKTbAAwnNT4ziuAQy3BVH2rsGKtYkrFK99UPU16cXwX2aYGbYowUZLA2zkr4eA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364AB3-FFD3-9576-FFCD-8B3AAE3F5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91420"/>
            <a:ext cx="7577137" cy="5533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2BDDCE-0F3C-DFB6-DA6B-3C652AED4BC8}"/>
              </a:ext>
            </a:extLst>
          </p:cNvPr>
          <p:cNvSpPr txBox="1"/>
          <p:nvPr/>
        </p:nvSpPr>
        <p:spPr>
          <a:xfrm>
            <a:off x="304800" y="389033"/>
            <a:ext cx="19591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ptos Black" panose="020F0502020204030204" pitchFamily="34" charset="0"/>
              </a:rPr>
              <a:t>REACT</a:t>
            </a:r>
          </a:p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F0502020204030204" pitchFamily="34" charset="0"/>
              </a:rPr>
              <a:t>ESSENTIALS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D1BB0-63E5-364B-74BF-2D8AC5BFC7F2}"/>
              </a:ext>
            </a:extLst>
          </p:cNvPr>
          <p:cNvSpPr txBox="1"/>
          <p:nvPr/>
        </p:nvSpPr>
        <p:spPr>
          <a:xfrm>
            <a:off x="4944097" y="404421"/>
            <a:ext cx="3000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ptos Black" panose="020B0004020202020204" pitchFamily="34" charset="0"/>
              </a:rPr>
              <a:t>MARCH 15 &amp; MARCH 22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F6605-42C2-EDFB-9AD6-A243A2227812}"/>
              </a:ext>
            </a:extLst>
          </p:cNvPr>
          <p:cNvSpPr txBox="1"/>
          <p:nvPr/>
        </p:nvSpPr>
        <p:spPr>
          <a:xfrm>
            <a:off x="4289045" y="6122318"/>
            <a:ext cx="3655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 Black" panose="020B0004020202020204" pitchFamily="34" charset="0"/>
              </a:rPr>
              <a:t>TWO DAY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REACT</a:t>
            </a:r>
            <a:r>
              <a:rPr lang="en-US" sz="2000" b="1" dirty="0">
                <a:latin typeface="Aptos Black" panose="020B0004020202020204" pitchFamily="34" charset="0"/>
              </a:rPr>
              <a:t>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WORKSHOP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3008F1-2F6C-B7B4-DCF9-97663B894F0E}"/>
              </a:ext>
            </a:extLst>
          </p:cNvPr>
          <p:cNvSpPr txBox="1"/>
          <p:nvPr/>
        </p:nvSpPr>
        <p:spPr>
          <a:xfrm>
            <a:off x="7163615" y="735682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E1A262-497E-CEEC-FC0D-3284B7C7E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3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8D01E-3EB5-4927-7150-091356F7DC8F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24ECD-0B12-C663-EEB0-0D48E07E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A655A2-0751-2F54-51F7-B941C7242D9F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E89DD2-6DB9-207D-9788-EA47138ECD2E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FD205B-7621-2E4A-BC6F-B8BCA9514C49}"/>
              </a:ext>
            </a:extLst>
          </p:cNvPr>
          <p:cNvSpPr txBox="1"/>
          <p:nvPr/>
        </p:nvSpPr>
        <p:spPr>
          <a:xfrm>
            <a:off x="246888" y="711791"/>
            <a:ext cx="3280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tos Black" panose="020B0004020202020204" pitchFamily="34" charset="0"/>
              </a:rPr>
              <a:t>WORKSHOP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OUTLINE</a:t>
            </a:r>
            <a:endParaRPr lang="en-PH" sz="24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6328DC-C28E-A853-22AD-706485FA7C72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2B95A3F-6097-F673-6331-534A4F2FD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828860"/>
              </p:ext>
            </p:extLst>
          </p:nvPr>
        </p:nvGraphicFramePr>
        <p:xfrm>
          <a:off x="1075804" y="1173456"/>
          <a:ext cx="10040391" cy="5559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7329">
                  <a:extLst>
                    <a:ext uri="{9D8B030D-6E8A-4147-A177-3AD203B41FA5}">
                      <a16:colId xmlns:a16="http://schemas.microsoft.com/office/drawing/2014/main" val="1430106935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3768887015"/>
                    </a:ext>
                  </a:extLst>
                </a:gridCol>
                <a:gridCol w="3635621">
                  <a:extLst>
                    <a:ext uri="{9D8B030D-6E8A-4147-A177-3AD203B41FA5}">
                      <a16:colId xmlns:a16="http://schemas.microsoft.com/office/drawing/2014/main" val="3848216129"/>
                    </a:ext>
                  </a:extLst>
                </a:gridCol>
                <a:gridCol w="1338993">
                  <a:extLst>
                    <a:ext uri="{9D8B030D-6E8A-4147-A177-3AD203B41FA5}">
                      <a16:colId xmlns:a16="http://schemas.microsoft.com/office/drawing/2014/main" val="2593044736"/>
                    </a:ext>
                  </a:extLst>
                </a:gridCol>
              </a:tblGrid>
              <a:tr h="26822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DAY 1 (MARCH 15, 2026)</a:t>
                      </a:r>
                      <a:endParaRPr lang="en-PH" sz="1400" b="1" dirty="0"/>
                    </a:p>
                  </a:txBody>
                  <a:tcPr marL="130521" marR="130521" marT="65261" marB="652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ESTIMATED DURATION</a:t>
                      </a:r>
                      <a:endParaRPr lang="en-PH" sz="1400" b="1" dirty="0"/>
                    </a:p>
                  </a:txBody>
                  <a:tcPr marL="130521" marR="130521" marT="65261" marB="652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DAY 2 (MARCH 22, 2026)</a:t>
                      </a:r>
                      <a:endParaRPr lang="en-PH" sz="1400" b="1" dirty="0"/>
                    </a:p>
                  </a:txBody>
                  <a:tcPr marL="130521" marR="130521" marT="65261" marB="652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ESTIMATED DURATION</a:t>
                      </a:r>
                      <a:endParaRPr lang="en-PH" sz="1400" b="1" dirty="0"/>
                    </a:p>
                  </a:txBody>
                  <a:tcPr marL="130521" marR="130521" marT="65261" marB="65261" anchor="ctr"/>
                </a:tc>
                <a:extLst>
                  <a:ext uri="{0D108BD9-81ED-4DB2-BD59-A6C34878D82A}">
                    <a16:rowId xmlns:a16="http://schemas.microsoft.com/office/drawing/2014/main" val="4162735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Environment Setup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10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r>
                        <a:rPr lang="en-US" sz="1100" dirty="0"/>
                        <a:t>R</a:t>
                      </a:r>
                      <a:r>
                        <a:rPr lang="en-US" sz="1100" b="1" dirty="0"/>
                        <a:t>ecap of Day 1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5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549748"/>
                  </a:ext>
                </a:extLst>
              </a:tr>
              <a:tr h="165828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Installing Node.js &amp; Node Package Manager (NPM)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301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Creating your first React App (using Vite)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67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Organizing your project folder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603727"/>
                  </a:ext>
                </a:extLst>
              </a:tr>
              <a:tr h="223622">
                <a:tc>
                  <a:txBody>
                    <a:bodyPr/>
                    <a:lstStyle/>
                    <a:p>
                      <a:r>
                        <a:rPr lang="en-US" sz="1100" b="1" dirty="0"/>
                        <a:t>Introduction to React Application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/>
                </a:tc>
                <a:tc rowSpan="2">
                  <a:txBody>
                    <a:bodyPr/>
                    <a:lstStyle/>
                    <a:p>
                      <a:r>
                        <a:rPr lang="en-US" sz="1100" b="1" dirty="0"/>
                        <a:t>Environment Setup</a:t>
                      </a:r>
                      <a:endParaRPr lang="en-PH" sz="1100" b="1" i="1" dirty="0"/>
                    </a:p>
                  </a:txBody>
                  <a:tcPr marL="130521" marR="130521" marT="65261" marB="65261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10 minutes</a:t>
                      </a:r>
                      <a:endParaRPr lang="en-PH" sz="1100" b="1" dirty="0"/>
                    </a:p>
                  </a:txBody>
                  <a:tcPr marL="130521" marR="130521" marT="65261" marB="65261" anchor="ctr"/>
                </a:tc>
                <a:extLst>
                  <a:ext uri="{0D108BD9-81ED-4DB2-BD59-A6C34878D82A}">
                    <a16:rowId xmlns:a16="http://schemas.microsoft.com/office/drawing/2014/main" val="381049934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Writing your first React page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09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Initialization of a new package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95027"/>
                  </a:ext>
                </a:extLst>
              </a:tr>
              <a:tr h="149081"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Understanding components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0784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Installing relevant node packages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588727"/>
                  </a:ext>
                </a:extLst>
              </a:tr>
              <a:tr h="223622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Event Handling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864439"/>
                  </a:ext>
                </a:extLst>
              </a:tr>
              <a:tr h="223622">
                <a:tc>
                  <a:txBody>
                    <a:bodyPr/>
                    <a:lstStyle/>
                    <a:p>
                      <a:r>
                        <a:rPr lang="en-US" sz="1100" b="1" dirty="0"/>
                        <a:t>Utilizing React Hooks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100" b="1" dirty="0"/>
                        <a:t>Backend Fundamentals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68099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Using </a:t>
                      </a:r>
                      <a:r>
                        <a:rPr lang="en-US" sz="1100" dirty="0" err="1"/>
                        <a:t>useStates</a:t>
                      </a:r>
                      <a:r>
                        <a:rPr lang="en-US" sz="1100" dirty="0"/>
                        <a:t> &amp; Conditional Rendering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009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Setting up your first node server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205679"/>
                  </a:ext>
                </a:extLst>
              </a:tr>
              <a:tr h="149081"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Using </a:t>
                      </a:r>
                      <a:r>
                        <a:rPr lang="en-US" sz="1100" dirty="0" err="1"/>
                        <a:t>useEffect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999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API and REST fundamentals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972685"/>
                  </a:ext>
                </a:extLst>
              </a:tr>
              <a:tr h="223622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Other React Hooks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393093"/>
                  </a:ext>
                </a:extLst>
              </a:tr>
              <a:tr h="529335">
                <a:tc>
                  <a:txBody>
                    <a:bodyPr/>
                    <a:lstStyle/>
                    <a:p>
                      <a:r>
                        <a:rPr lang="en-US" sz="1100" b="1" dirty="0"/>
                        <a:t>Navigating using React Router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Handling loading states, errors, and response data</a:t>
                      </a:r>
                      <a:endParaRPr lang="en-PH" sz="1100" b="1" i="1" dirty="0"/>
                    </a:p>
                  </a:txBody>
                  <a:tcPr marL="130521" marR="130521" marT="65261" marB="652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/>
                </a:tc>
                <a:extLst>
                  <a:ext uri="{0D108BD9-81ED-4DB2-BD59-A6C34878D82A}">
                    <a16:rowId xmlns:a16="http://schemas.microsoft.com/office/drawing/2014/main" val="2159007117"/>
                  </a:ext>
                </a:extLst>
              </a:tr>
              <a:tr h="176445">
                <a:tc rowSpan="3">
                  <a:txBody>
                    <a:bodyPr/>
                    <a:lstStyle/>
                    <a:p>
                      <a:r>
                        <a:rPr lang="en-US" sz="1100" b="1" dirty="0"/>
                        <a:t>Getting user inputs using Forms</a:t>
                      </a:r>
                      <a:endParaRPr lang="en-PH" sz="1100" b="1" i="1" dirty="0"/>
                    </a:p>
                  </a:txBody>
                  <a:tcPr marL="130521" marR="130521" marT="65261" marB="65261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AuthN and </a:t>
                      </a:r>
                      <a:r>
                        <a:rPr lang="en-US" sz="1100" b="1" dirty="0" err="1"/>
                        <a:t>AuthZ</a:t>
                      </a:r>
                      <a:r>
                        <a:rPr lang="en-US" sz="1100" b="1" dirty="0"/>
                        <a:t> using JWT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1 hour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972283"/>
                  </a:ext>
                </a:extLst>
              </a:tr>
              <a:tr h="176445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Authentication using JWT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022200"/>
                  </a:ext>
                </a:extLst>
              </a:tr>
              <a:tr h="176445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Protected Routes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40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80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F827-7F16-DC13-82A0-803417A63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E05A5E-C496-4A02-45C3-0EC1D6865018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AE67B1-87D0-EE27-DDA9-D249E4513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9E82FE-BE66-CF92-1623-A6A85A92F47E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E5594A-EB5C-F5E1-D38F-7754C97403F5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AA24F83-54CB-80A9-ABEC-009F3A9F7CE2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1D90C-E91F-5E52-FD23-6BBBC224D46B}"/>
              </a:ext>
            </a:extLst>
          </p:cNvPr>
          <p:cNvSpPr txBox="1"/>
          <p:nvPr/>
        </p:nvSpPr>
        <p:spPr>
          <a:xfrm>
            <a:off x="10938914" y="6292889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44837-E86C-BDFA-7770-68AA7A62ACB7}"/>
              </a:ext>
            </a:extLst>
          </p:cNvPr>
          <p:cNvSpPr txBox="1"/>
          <p:nvPr/>
        </p:nvSpPr>
        <p:spPr>
          <a:xfrm>
            <a:off x="182907" y="731520"/>
            <a:ext cx="3896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ENVIRONMENT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SETUP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BB7431-18D9-CD58-6E46-D48757284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66" y="1700784"/>
            <a:ext cx="5188758" cy="4609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515548-4182-273E-CD16-2E0DB268647B}"/>
              </a:ext>
            </a:extLst>
          </p:cNvPr>
          <p:cNvSpPr txBox="1"/>
          <p:nvPr/>
        </p:nvSpPr>
        <p:spPr>
          <a:xfrm>
            <a:off x="6263910" y="1469951"/>
            <a:ext cx="520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tos Black" panose="020B0004020202020204" pitchFamily="34" charset="0"/>
              </a:rPr>
              <a:t>MINIMUM SYSTEM REQUIREMENTS</a:t>
            </a:r>
            <a:endParaRPr lang="en-PH" sz="2400" dirty="0">
              <a:latin typeface="Aptos Black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1F678-A46D-E08B-E5B8-D56DFD8D24CE}"/>
              </a:ext>
            </a:extLst>
          </p:cNvPr>
          <p:cNvSpPr txBox="1"/>
          <p:nvPr/>
        </p:nvSpPr>
        <p:spPr>
          <a:xfrm>
            <a:off x="6403350" y="1925574"/>
            <a:ext cx="4834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are the minimum system requirements: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At least </a:t>
            </a:r>
            <a:r>
              <a:rPr lang="en-US" b="1" dirty="0"/>
              <a:t>8 GB </a:t>
            </a:r>
            <a:r>
              <a:rPr lang="en-US" dirty="0"/>
              <a:t>of RAM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dirty="0"/>
              <a:t>Substantial </a:t>
            </a:r>
            <a:r>
              <a:rPr lang="en-PH" dirty="0"/>
              <a:t>amount of Storage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dirty="0"/>
              <a:t>Substantial </a:t>
            </a:r>
            <a:r>
              <a:rPr lang="en-PH" dirty="0"/>
              <a:t>CPU</a:t>
            </a:r>
            <a:endParaRPr lang="en-PH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95918-D0E0-81D0-6BF3-9838CDF4B579}"/>
              </a:ext>
            </a:extLst>
          </p:cNvPr>
          <p:cNvSpPr txBox="1"/>
          <p:nvPr/>
        </p:nvSpPr>
        <p:spPr>
          <a:xfrm>
            <a:off x="6403350" y="3501265"/>
            <a:ext cx="4174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tos Black" panose="020B0004020202020204" pitchFamily="34" charset="0"/>
              </a:rPr>
              <a:t>INSTALLED APPLICATIONS:</a:t>
            </a:r>
            <a:endParaRPr lang="en-PH" sz="2400" dirty="0">
              <a:latin typeface="Aptos Black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6D3BDA-DD7A-38DD-7AA4-887A95811719}"/>
              </a:ext>
            </a:extLst>
          </p:cNvPr>
          <p:cNvSpPr txBox="1"/>
          <p:nvPr/>
        </p:nvSpPr>
        <p:spPr>
          <a:xfrm>
            <a:off x="6403350" y="3969176"/>
            <a:ext cx="54655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Node JS - </a:t>
            </a:r>
            <a:r>
              <a:rPr lang="en-US" dirty="0">
                <a:hlinkClick r:id="rId4"/>
              </a:rPr>
              <a:t>https://nodejs.org/en/download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Preferred Text Editor (i.e. Sublime Text, VS Code, etc.)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dirty="0"/>
              <a:t>Preferred Browser (i.e. Google Chrome, Firefox,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H" dirty="0"/>
          </a:p>
          <a:p>
            <a:r>
              <a:rPr lang="en-PH" dirty="0"/>
              <a:t>Optionally: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dirty="0"/>
              <a:t>Docker for Windows - </a:t>
            </a:r>
            <a:r>
              <a:rPr lang="en-PH" dirty="0">
                <a:hlinkClick r:id="rId5"/>
              </a:rPr>
              <a:t>https://www.docker.com/</a:t>
            </a:r>
            <a:endParaRPr lang="en-PH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dirty="0"/>
              <a:t>Git - </a:t>
            </a:r>
            <a:r>
              <a:rPr lang="en-PH" dirty="0">
                <a:hlinkClick r:id="rId6"/>
              </a:rPr>
              <a:t>https://git-scm.com/install/windows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1228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2226-7FC8-63B9-F375-B607C46F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FB2CA9-0A88-24B9-6728-E6D798E62326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555B1-C0B2-BC1C-FACF-A9A1FA043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9D4020-A135-68BD-6ECD-4EF34BD87021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F457D3-D355-74F1-3AA7-82033A86F1EE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B7E0BDA-B78A-56F4-3032-2F20EA0FA9D5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86308-6B04-A4A2-2A42-853E45C3107F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38129-4BE4-B145-4DBB-9D479CEC397F}"/>
              </a:ext>
            </a:extLst>
          </p:cNvPr>
          <p:cNvSpPr txBox="1"/>
          <p:nvPr/>
        </p:nvSpPr>
        <p:spPr>
          <a:xfrm>
            <a:off x="182907" y="731520"/>
            <a:ext cx="3896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ENVIRONMENT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SETUP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EFD236-A82E-27B0-0FE3-A28BE1A01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07" y="1701450"/>
            <a:ext cx="8519876" cy="42238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594AAF-9D61-CDC8-6BD2-F4CE34BA62A1}"/>
              </a:ext>
            </a:extLst>
          </p:cNvPr>
          <p:cNvSpPr txBox="1"/>
          <p:nvPr/>
        </p:nvSpPr>
        <p:spPr>
          <a:xfrm>
            <a:off x="9040780" y="1952074"/>
            <a:ext cx="2601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INSTALLATION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CA30C4-D106-2D99-FE5E-DF4A05D409C0}"/>
              </a:ext>
            </a:extLst>
          </p:cNvPr>
          <p:cNvSpPr txBox="1"/>
          <p:nvPr/>
        </p:nvSpPr>
        <p:spPr>
          <a:xfrm>
            <a:off x="9093756" y="2520716"/>
            <a:ext cx="28468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dirty="0">
                <a:hlinkClick r:id="rId4"/>
              </a:rPr>
              <a:t>https://nodejs.org/en/download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your </a:t>
            </a:r>
            <a:r>
              <a:rPr lang="en-US" b="1" dirty="0"/>
              <a:t>OS </a:t>
            </a:r>
            <a:r>
              <a:rPr lang="en-US" dirty="0"/>
              <a:t>and your </a:t>
            </a:r>
            <a:r>
              <a:rPr lang="en-US" b="1" dirty="0"/>
              <a:t>Architecture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the </a:t>
            </a:r>
            <a:r>
              <a:rPr lang="en-US" b="1" dirty="0"/>
              <a:t>Installer Download </a:t>
            </a:r>
            <a:r>
              <a:rPr lang="en-US" dirty="0"/>
              <a:t>button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Follow the installation instruction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3BA5A1-1231-DD87-6436-28211F205FBC}"/>
              </a:ext>
            </a:extLst>
          </p:cNvPr>
          <p:cNvSpPr txBox="1"/>
          <p:nvPr/>
        </p:nvSpPr>
        <p:spPr>
          <a:xfrm>
            <a:off x="182907" y="5957489"/>
            <a:ext cx="6727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Tip: To verify successful installation, run in the terminal </a:t>
            </a:r>
            <a:r>
              <a:rPr lang="en-US" sz="1600" b="1" i="1" dirty="0">
                <a:highlight>
                  <a:srgbClr val="FFFF00"/>
                </a:highlight>
              </a:rPr>
              <a:t>node -v </a:t>
            </a:r>
            <a:r>
              <a:rPr lang="en-US" sz="1600" i="1" dirty="0"/>
              <a:t>and </a:t>
            </a:r>
            <a:r>
              <a:rPr lang="en-US" sz="1600" b="1" i="1" dirty="0" err="1">
                <a:highlight>
                  <a:srgbClr val="FFFF00"/>
                </a:highlight>
              </a:rPr>
              <a:t>npm</a:t>
            </a:r>
            <a:r>
              <a:rPr lang="en-US" sz="1600" b="1" i="1" dirty="0">
                <a:highlight>
                  <a:srgbClr val="FFFF00"/>
                </a:highlight>
              </a:rPr>
              <a:t> -v</a:t>
            </a:r>
            <a:endParaRPr lang="en-PH" sz="1600" b="1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4205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47D66-0386-CB65-0168-6F302B0D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2FA1CA-0290-1296-6263-F99FDC3499BF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1DB38-D529-01A5-C73A-2B6A35E6F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137E2-2791-5957-E267-F13B8998F194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F02A5B-2E76-B210-3D28-672577518442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FF0767-62F6-12B5-E781-325D1C44C91D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1FD44-A264-A798-18C7-055B6C2992F0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E0647-F1C0-9115-FBF2-6CAAE1E8D7BF}"/>
              </a:ext>
            </a:extLst>
          </p:cNvPr>
          <p:cNvSpPr txBox="1"/>
          <p:nvPr/>
        </p:nvSpPr>
        <p:spPr>
          <a:xfrm>
            <a:off x="182907" y="731520"/>
            <a:ext cx="3896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ENVIRONMENT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SETUP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1B6FD3-E915-3507-F388-3AC6A6B4F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6" y="1417037"/>
            <a:ext cx="6477904" cy="50489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B07BD-B03E-2CFB-5C32-6B384F80C8CB}"/>
              </a:ext>
            </a:extLst>
          </p:cNvPr>
          <p:cNvSpPr txBox="1"/>
          <p:nvPr/>
        </p:nvSpPr>
        <p:spPr>
          <a:xfrm>
            <a:off x="7336371" y="1650638"/>
            <a:ext cx="39850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CREATING YOUR FIRST</a:t>
            </a:r>
          </a:p>
          <a:p>
            <a:r>
              <a:rPr lang="en-US" sz="2800" dirty="0">
                <a:latin typeface="Aptos Black" panose="020B0004020202020204" pitchFamily="34" charset="0"/>
              </a:rPr>
              <a:t>REACT PROJECT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981FE-F552-67A2-A6BA-9375B94B222D}"/>
              </a:ext>
            </a:extLst>
          </p:cNvPr>
          <p:cNvSpPr txBox="1"/>
          <p:nvPr/>
        </p:nvSpPr>
        <p:spPr>
          <a:xfrm>
            <a:off x="7369296" y="2721781"/>
            <a:ext cx="41513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b="1" i="1" dirty="0" err="1"/>
              <a:t>npx</a:t>
            </a:r>
            <a:r>
              <a:rPr lang="en-US" b="1" i="1" dirty="0"/>
              <a:t> </a:t>
            </a:r>
            <a:r>
              <a:rPr lang="en-US" b="1" i="1" dirty="0" err="1"/>
              <a:t>create-vite@latest</a:t>
            </a:r>
            <a:r>
              <a:rPr lang="en-US" i="1" dirty="0"/>
              <a:t> </a:t>
            </a:r>
            <a:r>
              <a:rPr lang="en-US" dirty="0"/>
              <a:t>command in your terminal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Name your </a:t>
            </a:r>
            <a:r>
              <a:rPr lang="en-US" b="1" dirty="0"/>
              <a:t>First Project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Name your </a:t>
            </a:r>
            <a:r>
              <a:rPr lang="en-US" b="1" dirty="0"/>
              <a:t>Package</a:t>
            </a:r>
            <a:r>
              <a:rPr lang="en-US" dirty="0"/>
              <a:t> (or just press </a:t>
            </a:r>
            <a:r>
              <a:rPr lang="en-US" b="1" dirty="0"/>
              <a:t>Enter</a:t>
            </a:r>
            <a:r>
              <a:rPr lang="en-US" dirty="0"/>
              <a:t> to skip it)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your preferred variant (Recommended: </a:t>
            </a:r>
            <a:r>
              <a:rPr lang="en-US" b="1" dirty="0"/>
              <a:t>Typescript + SWC</a:t>
            </a:r>
            <a:r>
              <a:rPr lang="en-US" dirty="0"/>
              <a:t>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b="1" dirty="0"/>
              <a:t>DON’T</a:t>
            </a:r>
            <a:r>
              <a:rPr lang="en-PH" dirty="0"/>
              <a:t> use Vite 8 beta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/>
              <a:t>You can optionally skip installation and start (Recommended: </a:t>
            </a:r>
            <a:r>
              <a:rPr lang="en-PH" b="1" dirty="0"/>
              <a:t>No</a:t>
            </a:r>
            <a:r>
              <a:rPr lang="en-PH" dirty="0"/>
              <a:t>)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CB3C888-A7E1-150E-8EF3-E74E429B0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964" y="1254740"/>
            <a:ext cx="2634935" cy="3511577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AE3CB3-1ADB-83EE-BCF5-EE09CCEB9FEA}"/>
              </a:ext>
            </a:extLst>
          </p:cNvPr>
          <p:cNvSpPr txBox="1"/>
          <p:nvPr/>
        </p:nvSpPr>
        <p:spPr>
          <a:xfrm>
            <a:off x="4424964" y="4550873"/>
            <a:ext cx="1505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Credits to: </a:t>
            </a:r>
            <a:r>
              <a:rPr lang="en-US" sz="800" i="1" dirty="0">
                <a:hlinkClick r:id="rId5"/>
              </a:rPr>
              <a:t>Coding with Parvez</a:t>
            </a:r>
            <a:endParaRPr lang="en-PH" sz="800" i="1" dirty="0"/>
          </a:p>
        </p:txBody>
      </p:sp>
    </p:spTree>
    <p:extLst>
      <p:ext uri="{BB962C8B-B14F-4D97-AF65-F5344CB8AC3E}">
        <p14:creationId xmlns:p14="http://schemas.microsoft.com/office/powerpoint/2010/main" val="36615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73EC-773C-E1C5-C396-D540D7F51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AB16C2-EE0B-4388-D1FC-CDB67C0995EA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5A2D7-4E9A-0F14-A992-EE0FB9535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33E9C2-272B-12E8-FCAC-DB41D7DDC1B7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77C957-7049-8008-CE53-BA8EEEB65091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465752-D197-BD5E-AE28-DE383ACFEBF5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4696B-B6E1-FAF1-6CFC-582F4170A017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EE4CA5-5E9B-A106-636A-FF3A52D2DD29}"/>
              </a:ext>
            </a:extLst>
          </p:cNvPr>
          <p:cNvSpPr txBox="1"/>
          <p:nvPr/>
        </p:nvSpPr>
        <p:spPr>
          <a:xfrm>
            <a:off x="182907" y="731520"/>
            <a:ext cx="3896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ENVIRONMENT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SETUP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4453CCBD-DF92-482E-A581-BDFA6A7A0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39" y="1276251"/>
            <a:ext cx="4307491" cy="53426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808A9A-60E5-76B4-D4CF-6D5A3032CF69}"/>
              </a:ext>
            </a:extLst>
          </p:cNvPr>
          <p:cNvSpPr txBox="1"/>
          <p:nvPr/>
        </p:nvSpPr>
        <p:spPr>
          <a:xfrm>
            <a:off x="426339" y="6400087"/>
            <a:ext cx="18389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Credits to: </a:t>
            </a:r>
            <a:r>
              <a:rPr lang="en-US" sz="1000" i="1" dirty="0">
                <a:hlinkClick r:id="rId4"/>
              </a:rPr>
              <a:t>Coding with Parvez</a:t>
            </a:r>
            <a:endParaRPr lang="en-PH" sz="10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B6BD1-303D-6E91-6057-7CC820BC0256}"/>
              </a:ext>
            </a:extLst>
          </p:cNvPr>
          <p:cNvSpPr txBox="1"/>
          <p:nvPr/>
        </p:nvSpPr>
        <p:spPr>
          <a:xfrm>
            <a:off x="5288185" y="1370480"/>
            <a:ext cx="5209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PROJECT FOLDER STRUCTURE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55FC44-78F1-2EEA-E2D9-5C9744BE84BD}"/>
              </a:ext>
            </a:extLst>
          </p:cNvPr>
          <p:cNvSpPr txBox="1"/>
          <p:nvPr/>
        </p:nvSpPr>
        <p:spPr>
          <a:xfrm>
            <a:off x="5308878" y="1893700"/>
            <a:ext cx="63040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i="1" dirty="0"/>
              <a:t>components/  </a:t>
            </a:r>
            <a:r>
              <a:rPr lang="en-PH" dirty="0"/>
              <a:t>- contains your </a:t>
            </a:r>
            <a:r>
              <a:rPr lang="en-PH" b="1" dirty="0"/>
              <a:t>React Components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i="1" dirty="0"/>
              <a:t>pages/</a:t>
            </a:r>
            <a:r>
              <a:rPr lang="en-PH" i="1" dirty="0"/>
              <a:t> - </a:t>
            </a:r>
            <a:r>
              <a:rPr lang="en-PH" dirty="0"/>
              <a:t>stores your </a:t>
            </a:r>
            <a:r>
              <a:rPr lang="en-PH" b="1" dirty="0"/>
              <a:t>Pages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i="1" dirty="0"/>
              <a:t>assets/ </a:t>
            </a:r>
            <a:r>
              <a:rPr lang="en-PH" dirty="0"/>
              <a:t>-</a:t>
            </a:r>
            <a:r>
              <a:rPr lang="en-PH" b="1" i="1" dirty="0"/>
              <a:t> </a:t>
            </a:r>
            <a:r>
              <a:rPr lang="en-PH" dirty="0"/>
              <a:t>contains all your images and other file formats (i.e. Font Files)</a:t>
            </a:r>
          </a:p>
          <a:p>
            <a:endParaRPr lang="en-PH" dirty="0"/>
          </a:p>
          <a:p>
            <a:r>
              <a:rPr lang="en-PH" i="1" dirty="0"/>
              <a:t>Note: This is what typically project folder look like on small / micro sites (i.e. Personal Websites, etc.)</a:t>
            </a:r>
          </a:p>
        </p:txBody>
      </p:sp>
    </p:spTree>
    <p:extLst>
      <p:ext uri="{BB962C8B-B14F-4D97-AF65-F5344CB8AC3E}">
        <p14:creationId xmlns:p14="http://schemas.microsoft.com/office/powerpoint/2010/main" val="1022603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D96B-6EE7-CD28-F6E8-63B96828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0BB33-113C-1329-1057-AD6BE86F82C9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882DE-7A5F-6F15-90B7-87F651074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DA5153-3F88-BC68-B803-2589FA383D13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F585CB-CCF5-077B-48D1-1219E8BE05BC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1192A0B-B684-9B9A-423E-CA222E2DE6E7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60E62-6BFA-0845-80DE-E3CFFDAD3F04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7128C-4AD2-ECEB-4FCC-E8525B400D80}"/>
              </a:ext>
            </a:extLst>
          </p:cNvPr>
          <p:cNvSpPr txBox="1"/>
          <p:nvPr/>
        </p:nvSpPr>
        <p:spPr>
          <a:xfrm>
            <a:off x="182907" y="731520"/>
            <a:ext cx="6887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INTRODUCTION TO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REACT APPLICATION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DC8006-BDB8-A88C-B5BC-30EB18817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" y="1582579"/>
            <a:ext cx="2290093" cy="44152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91A9727-D303-A64B-FC29-A897B7162881}"/>
              </a:ext>
            </a:extLst>
          </p:cNvPr>
          <p:cNvSpPr txBox="1"/>
          <p:nvPr/>
        </p:nvSpPr>
        <p:spPr>
          <a:xfrm>
            <a:off x="4335880" y="1561180"/>
            <a:ext cx="7727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CREATING YOUR FIRST REACT PAGE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06CEF7-D7EC-FF79-8F9B-8977E9326D86}"/>
              </a:ext>
            </a:extLst>
          </p:cNvPr>
          <p:cNvSpPr txBox="1"/>
          <p:nvPr/>
        </p:nvSpPr>
        <p:spPr>
          <a:xfrm>
            <a:off x="4335880" y="2089362"/>
            <a:ext cx="7792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Create a new folder – name it </a:t>
            </a:r>
            <a:r>
              <a:rPr lang="en-US" b="1" i="1" dirty="0"/>
              <a:t>pages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Within the </a:t>
            </a:r>
            <a:r>
              <a:rPr lang="en-US" b="1" i="1" dirty="0"/>
              <a:t>pages/</a:t>
            </a:r>
            <a:r>
              <a:rPr lang="en-US" i="1" dirty="0"/>
              <a:t> </a:t>
            </a:r>
            <a:r>
              <a:rPr lang="en-US" dirty="0"/>
              <a:t>folder, create a new </a:t>
            </a:r>
            <a:r>
              <a:rPr lang="en-US" b="1" i="1" dirty="0"/>
              <a:t>.</a:t>
            </a:r>
            <a:r>
              <a:rPr lang="en-US" b="1" i="1" dirty="0" err="1"/>
              <a:t>tsx</a:t>
            </a:r>
            <a:r>
              <a:rPr lang="en-US" i="1" dirty="0"/>
              <a:t> </a:t>
            </a:r>
            <a:r>
              <a:rPr lang="en-US" dirty="0"/>
              <a:t>file – name it </a:t>
            </a:r>
            <a:r>
              <a:rPr lang="en-US" b="1" i="1" dirty="0" err="1">
                <a:solidFill>
                  <a:schemeClr val="accent4">
                    <a:lumMod val="50000"/>
                  </a:schemeClr>
                </a:solidFill>
              </a:rPr>
              <a:t>helloworld.tsx</a:t>
            </a:r>
            <a:endParaRPr lang="en-PH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BD61DFA-B121-53A5-C5D6-6790A24D8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911" y="4201273"/>
            <a:ext cx="6482372" cy="2448565"/>
          </a:xfrm>
          <a:prstGeom prst="rect">
            <a:avLst/>
          </a:prstGeom>
        </p:spPr>
      </p:pic>
      <p:sp>
        <p:nvSpPr>
          <p:cNvPr id="25" name="Arrow: Down 24">
            <a:extLst>
              <a:ext uri="{FF2B5EF4-FFF2-40B4-BE49-F238E27FC236}">
                <a16:creationId xmlns:a16="http://schemas.microsoft.com/office/drawing/2014/main" id="{005126D4-F540-986F-AD5E-1496BED3E059}"/>
              </a:ext>
            </a:extLst>
          </p:cNvPr>
          <p:cNvSpPr/>
          <p:nvPr/>
        </p:nvSpPr>
        <p:spPr>
          <a:xfrm rot="20429648">
            <a:off x="2266565" y="2799567"/>
            <a:ext cx="386458" cy="15254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9138B9-E933-2FEF-090A-50EDA90920CC}"/>
              </a:ext>
            </a:extLst>
          </p:cNvPr>
          <p:cNvSpPr txBox="1"/>
          <p:nvPr/>
        </p:nvSpPr>
        <p:spPr>
          <a:xfrm>
            <a:off x="6096000" y="3790189"/>
            <a:ext cx="4346930" cy="1200329"/>
          </a:xfrm>
          <a:custGeom>
            <a:avLst/>
            <a:gdLst>
              <a:gd name="csX0" fmla="*/ 0 w 4346930"/>
              <a:gd name="csY0" fmla="*/ 0 h 1200329"/>
              <a:gd name="csX1" fmla="*/ 490582 w 4346930"/>
              <a:gd name="csY1" fmla="*/ 0 h 1200329"/>
              <a:gd name="csX2" fmla="*/ 1024634 w 4346930"/>
              <a:gd name="csY2" fmla="*/ 0 h 1200329"/>
              <a:gd name="csX3" fmla="*/ 1689093 w 4346930"/>
              <a:gd name="csY3" fmla="*/ 0 h 1200329"/>
              <a:gd name="csX4" fmla="*/ 2397021 w 4346930"/>
              <a:gd name="csY4" fmla="*/ 0 h 1200329"/>
              <a:gd name="csX5" fmla="*/ 3104950 w 4346930"/>
              <a:gd name="csY5" fmla="*/ 0 h 1200329"/>
              <a:gd name="csX6" fmla="*/ 3769409 w 4346930"/>
              <a:gd name="csY6" fmla="*/ 0 h 1200329"/>
              <a:gd name="csX7" fmla="*/ 4346930 w 4346930"/>
              <a:gd name="csY7" fmla="*/ 0 h 1200329"/>
              <a:gd name="csX8" fmla="*/ 4346930 w 4346930"/>
              <a:gd name="csY8" fmla="*/ 600165 h 1200329"/>
              <a:gd name="csX9" fmla="*/ 4346930 w 4346930"/>
              <a:gd name="csY9" fmla="*/ 1200329 h 1200329"/>
              <a:gd name="csX10" fmla="*/ 3769409 w 4346930"/>
              <a:gd name="csY10" fmla="*/ 1200329 h 1200329"/>
              <a:gd name="csX11" fmla="*/ 3191889 w 4346930"/>
              <a:gd name="csY11" fmla="*/ 1200329 h 1200329"/>
              <a:gd name="csX12" fmla="*/ 2701307 w 4346930"/>
              <a:gd name="csY12" fmla="*/ 1200329 h 1200329"/>
              <a:gd name="csX13" fmla="*/ 2167255 w 4346930"/>
              <a:gd name="csY13" fmla="*/ 1200329 h 1200329"/>
              <a:gd name="csX14" fmla="*/ 1676673 w 4346930"/>
              <a:gd name="csY14" fmla="*/ 1200329 h 1200329"/>
              <a:gd name="csX15" fmla="*/ 1186091 w 4346930"/>
              <a:gd name="csY15" fmla="*/ 1200329 h 1200329"/>
              <a:gd name="csX16" fmla="*/ 608570 w 4346930"/>
              <a:gd name="csY16" fmla="*/ 1200329 h 1200329"/>
              <a:gd name="csX17" fmla="*/ 0 w 4346930"/>
              <a:gd name="csY17" fmla="*/ 1200329 h 1200329"/>
              <a:gd name="csX18" fmla="*/ 0 w 4346930"/>
              <a:gd name="csY18" fmla="*/ 612168 h 1200329"/>
              <a:gd name="csX19" fmla="*/ 0 w 4346930"/>
              <a:gd name="csY19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346930" h="1200329" fill="none" extrusionOk="0">
                <a:moveTo>
                  <a:pt x="0" y="0"/>
                </a:moveTo>
                <a:cubicBezTo>
                  <a:pt x="201899" y="-4266"/>
                  <a:pt x="266812" y="-15685"/>
                  <a:pt x="490582" y="0"/>
                </a:cubicBezTo>
                <a:cubicBezTo>
                  <a:pt x="714352" y="15685"/>
                  <a:pt x="812142" y="21386"/>
                  <a:pt x="1024634" y="0"/>
                </a:cubicBezTo>
                <a:cubicBezTo>
                  <a:pt x="1237126" y="-21386"/>
                  <a:pt x="1438741" y="21508"/>
                  <a:pt x="1689093" y="0"/>
                </a:cubicBezTo>
                <a:cubicBezTo>
                  <a:pt x="1939445" y="-21508"/>
                  <a:pt x="2130426" y="-2615"/>
                  <a:pt x="2397021" y="0"/>
                </a:cubicBezTo>
                <a:cubicBezTo>
                  <a:pt x="2663616" y="2615"/>
                  <a:pt x="2870257" y="17942"/>
                  <a:pt x="3104950" y="0"/>
                </a:cubicBezTo>
                <a:cubicBezTo>
                  <a:pt x="3339643" y="-17942"/>
                  <a:pt x="3469705" y="-12587"/>
                  <a:pt x="3769409" y="0"/>
                </a:cubicBezTo>
                <a:cubicBezTo>
                  <a:pt x="4069113" y="12587"/>
                  <a:pt x="4086835" y="-23479"/>
                  <a:pt x="4346930" y="0"/>
                </a:cubicBezTo>
                <a:cubicBezTo>
                  <a:pt x="4359107" y="299879"/>
                  <a:pt x="4366282" y="406999"/>
                  <a:pt x="4346930" y="600165"/>
                </a:cubicBezTo>
                <a:cubicBezTo>
                  <a:pt x="4327578" y="793331"/>
                  <a:pt x="4340183" y="942209"/>
                  <a:pt x="4346930" y="1200329"/>
                </a:cubicBezTo>
                <a:cubicBezTo>
                  <a:pt x="4224215" y="1211877"/>
                  <a:pt x="3950811" y="1193962"/>
                  <a:pt x="3769409" y="1200329"/>
                </a:cubicBezTo>
                <a:cubicBezTo>
                  <a:pt x="3588007" y="1206696"/>
                  <a:pt x="3345548" y="1228073"/>
                  <a:pt x="3191889" y="1200329"/>
                </a:cubicBezTo>
                <a:cubicBezTo>
                  <a:pt x="3038230" y="1172585"/>
                  <a:pt x="2812577" y="1197141"/>
                  <a:pt x="2701307" y="1200329"/>
                </a:cubicBezTo>
                <a:cubicBezTo>
                  <a:pt x="2590037" y="1203517"/>
                  <a:pt x="2408822" y="1221568"/>
                  <a:pt x="2167255" y="1200329"/>
                </a:cubicBezTo>
                <a:cubicBezTo>
                  <a:pt x="1925688" y="1179090"/>
                  <a:pt x="1856102" y="1189384"/>
                  <a:pt x="1676673" y="1200329"/>
                </a:cubicBezTo>
                <a:cubicBezTo>
                  <a:pt x="1497244" y="1211274"/>
                  <a:pt x="1421579" y="1223575"/>
                  <a:pt x="1186091" y="1200329"/>
                </a:cubicBezTo>
                <a:cubicBezTo>
                  <a:pt x="950603" y="1177083"/>
                  <a:pt x="837747" y="1213515"/>
                  <a:pt x="608570" y="1200329"/>
                </a:cubicBezTo>
                <a:cubicBezTo>
                  <a:pt x="379393" y="1187143"/>
                  <a:pt x="188898" y="1206777"/>
                  <a:pt x="0" y="1200329"/>
                </a:cubicBezTo>
                <a:cubicBezTo>
                  <a:pt x="15807" y="1014220"/>
                  <a:pt x="28750" y="793597"/>
                  <a:pt x="0" y="612168"/>
                </a:cubicBezTo>
                <a:cubicBezTo>
                  <a:pt x="-28750" y="430739"/>
                  <a:pt x="17064" y="149575"/>
                  <a:pt x="0" y="0"/>
                </a:cubicBezTo>
                <a:close/>
              </a:path>
              <a:path w="4346930" h="1200329" stroke="0" extrusionOk="0">
                <a:moveTo>
                  <a:pt x="0" y="0"/>
                </a:moveTo>
                <a:cubicBezTo>
                  <a:pt x="224755" y="-9134"/>
                  <a:pt x="451068" y="-8766"/>
                  <a:pt x="577521" y="0"/>
                </a:cubicBezTo>
                <a:cubicBezTo>
                  <a:pt x="703974" y="8766"/>
                  <a:pt x="882486" y="-15745"/>
                  <a:pt x="1068103" y="0"/>
                </a:cubicBezTo>
                <a:cubicBezTo>
                  <a:pt x="1253720" y="15745"/>
                  <a:pt x="1420911" y="-23819"/>
                  <a:pt x="1558685" y="0"/>
                </a:cubicBezTo>
                <a:cubicBezTo>
                  <a:pt x="1696459" y="23819"/>
                  <a:pt x="2065196" y="-22337"/>
                  <a:pt x="2223144" y="0"/>
                </a:cubicBezTo>
                <a:cubicBezTo>
                  <a:pt x="2381092" y="22337"/>
                  <a:pt x="2746447" y="-29842"/>
                  <a:pt x="2887603" y="0"/>
                </a:cubicBezTo>
                <a:cubicBezTo>
                  <a:pt x="3028759" y="29842"/>
                  <a:pt x="3226649" y="8849"/>
                  <a:pt x="3552063" y="0"/>
                </a:cubicBezTo>
                <a:cubicBezTo>
                  <a:pt x="3877477" y="-8849"/>
                  <a:pt x="4160219" y="-24572"/>
                  <a:pt x="4346930" y="0"/>
                </a:cubicBezTo>
                <a:cubicBezTo>
                  <a:pt x="4319276" y="168012"/>
                  <a:pt x="4338850" y="415894"/>
                  <a:pt x="4346930" y="588161"/>
                </a:cubicBezTo>
                <a:cubicBezTo>
                  <a:pt x="4355010" y="760428"/>
                  <a:pt x="4362224" y="1011783"/>
                  <a:pt x="4346930" y="1200329"/>
                </a:cubicBezTo>
                <a:cubicBezTo>
                  <a:pt x="4099830" y="1221731"/>
                  <a:pt x="3932404" y="1218243"/>
                  <a:pt x="3812879" y="1200329"/>
                </a:cubicBezTo>
                <a:cubicBezTo>
                  <a:pt x="3693354" y="1182415"/>
                  <a:pt x="3454369" y="1200708"/>
                  <a:pt x="3322297" y="1200329"/>
                </a:cubicBezTo>
                <a:cubicBezTo>
                  <a:pt x="3190225" y="1199950"/>
                  <a:pt x="3036197" y="1192314"/>
                  <a:pt x="2788245" y="1200329"/>
                </a:cubicBezTo>
                <a:cubicBezTo>
                  <a:pt x="2540293" y="1208344"/>
                  <a:pt x="2390792" y="1229104"/>
                  <a:pt x="2210724" y="1200329"/>
                </a:cubicBezTo>
                <a:cubicBezTo>
                  <a:pt x="2030656" y="1171554"/>
                  <a:pt x="1716367" y="1172770"/>
                  <a:pt x="1589734" y="1200329"/>
                </a:cubicBezTo>
                <a:cubicBezTo>
                  <a:pt x="1463101" y="1227889"/>
                  <a:pt x="1318226" y="1185435"/>
                  <a:pt x="1099152" y="1200329"/>
                </a:cubicBezTo>
                <a:cubicBezTo>
                  <a:pt x="880078" y="1215223"/>
                  <a:pt x="259847" y="1167839"/>
                  <a:pt x="0" y="1200329"/>
                </a:cubicBezTo>
                <a:cubicBezTo>
                  <a:pt x="22293" y="1058399"/>
                  <a:pt x="8968" y="807725"/>
                  <a:pt x="0" y="636174"/>
                </a:cubicBezTo>
                <a:cubicBezTo>
                  <a:pt x="-8968" y="464624"/>
                  <a:pt x="25874" y="23896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787877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Note: At this point, you can follow</a:t>
            </a:r>
            <a:r>
              <a:rPr lang="en-PH" i="1" dirty="0"/>
              <a:t> the example code given here. Do not forget to </a:t>
            </a:r>
            <a:r>
              <a:rPr lang="en-PH" b="1" i="1" dirty="0"/>
              <a:t>EXPORT </a:t>
            </a:r>
            <a:r>
              <a:rPr lang="en-PH" i="1" dirty="0"/>
              <a:t>it so that it can be used by other components.</a:t>
            </a:r>
            <a:endParaRPr lang="en-US" i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CA1764C-7364-E9E9-B414-9C8220F69A25}"/>
              </a:ext>
            </a:extLst>
          </p:cNvPr>
          <p:cNvCxnSpPr>
            <a:cxnSpLocks/>
          </p:cNvCxnSpPr>
          <p:nvPr/>
        </p:nvCxnSpPr>
        <p:spPr>
          <a:xfrm>
            <a:off x="3154680" y="6611112"/>
            <a:ext cx="19293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94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798A-5DF2-2B8B-05F0-7A242227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BC5603-E5AA-B08B-DFA2-72233976CE48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4F3C0E-81FC-548C-D060-A3CD18574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A954BF-4C97-E954-2A7E-4355DB970661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74ED77-9EB0-72B2-CE25-7E1B56322B86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5E12F75-0FC1-8375-4562-DD3F6D8012B1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4B9C4-35C9-6F9A-0D0A-72327603F5D3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D80DC-F6B6-EA64-B422-F679851C8B20}"/>
              </a:ext>
            </a:extLst>
          </p:cNvPr>
          <p:cNvSpPr txBox="1"/>
          <p:nvPr/>
        </p:nvSpPr>
        <p:spPr>
          <a:xfrm>
            <a:off x="182907" y="731520"/>
            <a:ext cx="6887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INTRODUCTION TO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REACT APPLICATION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C3F5C6F-E221-5B82-7D2B-256B6ACE5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38" y="1370480"/>
            <a:ext cx="2781688" cy="44297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5EA3B25-96A4-8BF5-7F30-04545CF63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951" y="3672398"/>
            <a:ext cx="5474642" cy="3055204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A8447E4B-770F-7E89-9579-219099400ACC}"/>
              </a:ext>
            </a:extLst>
          </p:cNvPr>
          <p:cNvSpPr/>
          <p:nvPr/>
        </p:nvSpPr>
        <p:spPr>
          <a:xfrm rot="19406178">
            <a:off x="1613031" y="2947139"/>
            <a:ext cx="369180" cy="11098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FDD7C89-97D6-B6E8-8BA5-073E101A90F5}"/>
              </a:ext>
            </a:extLst>
          </p:cNvPr>
          <p:cNvSpPr/>
          <p:nvPr/>
        </p:nvSpPr>
        <p:spPr>
          <a:xfrm rot="19106181">
            <a:off x="2545867" y="2164875"/>
            <a:ext cx="387498" cy="236239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C8B6C8-5FD4-8F49-95B1-9C1D441DD8D6}"/>
              </a:ext>
            </a:extLst>
          </p:cNvPr>
          <p:cNvSpPr txBox="1"/>
          <p:nvPr/>
        </p:nvSpPr>
        <p:spPr>
          <a:xfrm>
            <a:off x="4824962" y="1704777"/>
            <a:ext cx="7727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CREATING YOUR FIRST REACT PAGE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D660E8-8705-C475-FAE0-BB4E7C5E86B8}"/>
              </a:ext>
            </a:extLst>
          </p:cNvPr>
          <p:cNvSpPr txBox="1"/>
          <p:nvPr/>
        </p:nvSpPr>
        <p:spPr>
          <a:xfrm>
            <a:off x="4824962" y="2200992"/>
            <a:ext cx="7792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Import your newly created page </a:t>
            </a:r>
            <a:r>
              <a:rPr lang="en-US" b="1" i="1" dirty="0"/>
              <a:t>(component) </a:t>
            </a:r>
            <a:r>
              <a:rPr lang="en-US" dirty="0"/>
              <a:t>to </a:t>
            </a:r>
            <a:r>
              <a:rPr lang="en-US" b="1" i="1" dirty="0" err="1"/>
              <a:t>App.tsx</a:t>
            </a:r>
            <a:endParaRPr lang="en-US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Launch </a:t>
            </a:r>
            <a:r>
              <a:rPr lang="en-US" dirty="0">
                <a:hlinkClick r:id="rId5"/>
              </a:rPr>
              <a:t>http://localhost:5173/</a:t>
            </a:r>
            <a:r>
              <a:rPr lang="en-US" dirty="0"/>
              <a:t> and see the result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6327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47E75-4310-B69B-8BC4-2ACA1B46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69A90B-3A99-F99E-331A-FECF9BD2EA86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8641C-2256-E91D-D793-148E107A2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44348A-CE66-1705-F966-33E8DAD47DB2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04B7A7-15FD-1386-9CE6-0A1BEC5C1BC9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65AD14C-0A5A-8CE0-F58B-5909D245BB11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C65A3-9FF3-794D-4B93-5C6332477F22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8F7C0-331A-5564-713F-624820CB0CE6}"/>
              </a:ext>
            </a:extLst>
          </p:cNvPr>
          <p:cNvSpPr txBox="1"/>
          <p:nvPr/>
        </p:nvSpPr>
        <p:spPr>
          <a:xfrm>
            <a:off x="182907" y="731520"/>
            <a:ext cx="6887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INTRODUCTION TO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REACT APPLICATION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7" name="Picture 4" descr="May be a graphic of text that says 'NTML BASIC REACT COMPONENT ANATOMY Import Statement (Optional but common setup) Component Definition (A JavaScript Function) import React from 'peact'; Props (Data Inputs/Arguments) function Greeting (props) { return ( &lt;div className=&quot; 'greeting-container&quot;&gt; &lt;h1&gt;Hello, {props.name}!&lt;/h1&gt; !&lt;/h1&gt; {props &lt;p&gt;Welcome to my React app. app.&lt;/p&gt; &lt;/div&gt; } Return Statement (JSX Output) JSX (UI Markup &amp; Dynamic Data) export default Greeting; Export Statement (Makes it reusable) Think of components as reusable building blocks for your UI, like digital Lego bricks. Header Content Footer'">
            <a:extLst>
              <a:ext uri="{FF2B5EF4-FFF2-40B4-BE49-F238E27FC236}">
                <a16:creationId xmlns:a16="http://schemas.microsoft.com/office/drawing/2014/main" id="{69586105-2803-9716-952B-0BC915EB9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96" y="1426120"/>
            <a:ext cx="4203040" cy="521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C0908C-86AE-F3DE-2885-EAB3EC5C922A}"/>
              </a:ext>
            </a:extLst>
          </p:cNvPr>
          <p:cNvSpPr txBox="1"/>
          <p:nvPr/>
        </p:nvSpPr>
        <p:spPr>
          <a:xfrm>
            <a:off x="542696" y="6397466"/>
            <a:ext cx="18389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Credits to: </a:t>
            </a:r>
            <a:r>
              <a:rPr lang="en-US" sz="1000" i="1" dirty="0">
                <a:hlinkClick r:id="rId4"/>
              </a:rPr>
              <a:t>Coding with Parvez</a:t>
            </a:r>
            <a:endParaRPr lang="en-PH" sz="10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13AF0-4E99-D503-4E68-FACD825C1C4F}"/>
              </a:ext>
            </a:extLst>
          </p:cNvPr>
          <p:cNvSpPr txBox="1"/>
          <p:nvPr/>
        </p:nvSpPr>
        <p:spPr>
          <a:xfrm>
            <a:off x="5258110" y="1737360"/>
            <a:ext cx="5709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UNDERSTANDING COMPONENTS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85CD5-B593-25FC-1FE4-29A0143BBF1F}"/>
              </a:ext>
            </a:extLst>
          </p:cNvPr>
          <p:cNvSpPr txBox="1"/>
          <p:nvPr/>
        </p:nvSpPr>
        <p:spPr>
          <a:xfrm>
            <a:off x="5495544" y="2289097"/>
            <a:ext cx="60624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Components are </a:t>
            </a:r>
            <a:r>
              <a:rPr lang="en-US" b="1" dirty="0"/>
              <a:t>reusable</a:t>
            </a:r>
            <a:r>
              <a:rPr lang="en-US" dirty="0"/>
              <a:t> pieces – instead of you copy-pasting the same UI repeatedly, you can just call the same code block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allows you to follow </a:t>
            </a:r>
            <a:r>
              <a:rPr lang="en-US" b="1" dirty="0"/>
              <a:t>DRY </a:t>
            </a:r>
            <a:r>
              <a:rPr lang="en-US" dirty="0"/>
              <a:t>principle – </a:t>
            </a:r>
            <a:r>
              <a:rPr lang="en-US" b="1" dirty="0"/>
              <a:t>D</a:t>
            </a:r>
            <a:r>
              <a:rPr lang="en-US" dirty="0"/>
              <a:t>on’t </a:t>
            </a:r>
            <a:r>
              <a:rPr lang="en-US" b="1" dirty="0"/>
              <a:t>R</a:t>
            </a:r>
            <a:r>
              <a:rPr lang="en-US" dirty="0"/>
              <a:t>epeat </a:t>
            </a:r>
            <a:r>
              <a:rPr lang="en-US" b="1" dirty="0"/>
              <a:t>Y</a:t>
            </a:r>
            <a:r>
              <a:rPr lang="en-US" dirty="0"/>
              <a:t>ourself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dirty="0"/>
              <a:t>Try to imagine yourself copy pasting </a:t>
            </a:r>
            <a:r>
              <a:rPr lang="en-PH" b="1" dirty="0"/>
              <a:t>navigations</a:t>
            </a:r>
            <a:r>
              <a:rPr lang="en-PH" dirty="0"/>
              <a:t> or </a:t>
            </a:r>
            <a:r>
              <a:rPr lang="en-PH" b="1" dirty="0"/>
              <a:t>footers</a:t>
            </a:r>
            <a:r>
              <a:rPr lang="en-PH" dirty="0"/>
              <a:t> on every single page you create. </a:t>
            </a:r>
            <a:r>
              <a:rPr lang="en-PH" b="1" dirty="0"/>
              <a:t>Components</a:t>
            </a:r>
            <a:r>
              <a:rPr lang="en-PH" dirty="0"/>
              <a:t> remove that hassle completely.</a:t>
            </a:r>
          </a:p>
        </p:txBody>
      </p:sp>
    </p:spTree>
    <p:extLst>
      <p:ext uri="{BB962C8B-B14F-4D97-AF65-F5344CB8AC3E}">
        <p14:creationId xmlns:p14="http://schemas.microsoft.com/office/powerpoint/2010/main" val="3608882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B257-5362-46AD-3070-12420E87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E2A82-4DC7-DE39-54D4-895497D053AB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F4C98-B236-6FD5-887F-36F13BD8A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58B97-E818-3936-F9EF-8172DF5EC2AB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B68D9C-562E-F743-6471-D22C2842F35F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BB2311-3863-8470-4EFE-8A5B36EC2D79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3F08D-091C-7F33-75F3-E02711698839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9C824-1EC2-BB5A-4DAA-A12B095E0A79}"/>
              </a:ext>
            </a:extLst>
          </p:cNvPr>
          <p:cNvSpPr txBox="1"/>
          <p:nvPr/>
        </p:nvSpPr>
        <p:spPr>
          <a:xfrm>
            <a:off x="182907" y="731520"/>
            <a:ext cx="6887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INTRODUCTION TO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REACT APPLICATION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3FC54B-1E10-F8D3-60EE-4644E9CB5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4" y="1405082"/>
            <a:ext cx="5516555" cy="28058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D219DC-834D-8F2A-ED8D-9707A4CEF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69" y="4501495"/>
            <a:ext cx="6847419" cy="7468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367F33-055A-AE5A-5CB9-3AF0D19ED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5076397"/>
            <a:ext cx="3325776" cy="1651205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0703FE13-FEC0-0612-9F24-9E23D0EB6E6D}"/>
              </a:ext>
            </a:extLst>
          </p:cNvPr>
          <p:cNvSpPr/>
          <p:nvPr/>
        </p:nvSpPr>
        <p:spPr>
          <a:xfrm rot="2369475">
            <a:off x="3303189" y="4957523"/>
            <a:ext cx="237744" cy="775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C4514C-F2EF-0C79-CA58-8732D0594D46}"/>
              </a:ext>
            </a:extLst>
          </p:cNvPr>
          <p:cNvSpPr txBox="1"/>
          <p:nvPr/>
        </p:nvSpPr>
        <p:spPr>
          <a:xfrm>
            <a:off x="3841215" y="5083795"/>
            <a:ext cx="2624328" cy="523220"/>
          </a:xfrm>
          <a:custGeom>
            <a:avLst/>
            <a:gdLst>
              <a:gd name="csX0" fmla="*/ 0 w 2624328"/>
              <a:gd name="csY0" fmla="*/ 0 h 523220"/>
              <a:gd name="csX1" fmla="*/ 524866 w 2624328"/>
              <a:gd name="csY1" fmla="*/ 0 h 523220"/>
              <a:gd name="csX2" fmla="*/ 1102218 w 2624328"/>
              <a:gd name="csY2" fmla="*/ 0 h 523220"/>
              <a:gd name="csX3" fmla="*/ 1679570 w 2624328"/>
              <a:gd name="csY3" fmla="*/ 0 h 523220"/>
              <a:gd name="csX4" fmla="*/ 2624328 w 2624328"/>
              <a:gd name="csY4" fmla="*/ 0 h 523220"/>
              <a:gd name="csX5" fmla="*/ 2624328 w 2624328"/>
              <a:gd name="csY5" fmla="*/ 523220 h 523220"/>
              <a:gd name="csX6" fmla="*/ 2073219 w 2624328"/>
              <a:gd name="csY6" fmla="*/ 523220 h 523220"/>
              <a:gd name="csX7" fmla="*/ 1627083 w 2624328"/>
              <a:gd name="csY7" fmla="*/ 523220 h 523220"/>
              <a:gd name="csX8" fmla="*/ 1180948 w 2624328"/>
              <a:gd name="csY8" fmla="*/ 523220 h 523220"/>
              <a:gd name="csX9" fmla="*/ 682325 w 2624328"/>
              <a:gd name="csY9" fmla="*/ 523220 h 523220"/>
              <a:gd name="csX10" fmla="*/ 0 w 2624328"/>
              <a:gd name="csY10" fmla="*/ 523220 h 523220"/>
              <a:gd name="csX11" fmla="*/ 0 w 2624328"/>
              <a:gd name="csY11" fmla="*/ 0 h 52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624328" h="523220" fill="none" extrusionOk="0">
                <a:moveTo>
                  <a:pt x="0" y="0"/>
                </a:moveTo>
                <a:cubicBezTo>
                  <a:pt x="149972" y="-53970"/>
                  <a:pt x="307211" y="45474"/>
                  <a:pt x="524866" y="0"/>
                </a:cubicBezTo>
                <a:cubicBezTo>
                  <a:pt x="742521" y="-45474"/>
                  <a:pt x="932293" y="63850"/>
                  <a:pt x="1102218" y="0"/>
                </a:cubicBezTo>
                <a:cubicBezTo>
                  <a:pt x="1272143" y="-63850"/>
                  <a:pt x="1522650" y="27236"/>
                  <a:pt x="1679570" y="0"/>
                </a:cubicBezTo>
                <a:cubicBezTo>
                  <a:pt x="1836490" y="-27236"/>
                  <a:pt x="2323941" y="36703"/>
                  <a:pt x="2624328" y="0"/>
                </a:cubicBezTo>
                <a:cubicBezTo>
                  <a:pt x="2628265" y="238906"/>
                  <a:pt x="2608944" y="392619"/>
                  <a:pt x="2624328" y="523220"/>
                </a:cubicBezTo>
                <a:cubicBezTo>
                  <a:pt x="2369996" y="586858"/>
                  <a:pt x="2235105" y="461570"/>
                  <a:pt x="2073219" y="523220"/>
                </a:cubicBezTo>
                <a:cubicBezTo>
                  <a:pt x="1911333" y="584870"/>
                  <a:pt x="1752545" y="501074"/>
                  <a:pt x="1627083" y="523220"/>
                </a:cubicBezTo>
                <a:cubicBezTo>
                  <a:pt x="1501621" y="545366"/>
                  <a:pt x="1278871" y="492342"/>
                  <a:pt x="1180948" y="523220"/>
                </a:cubicBezTo>
                <a:cubicBezTo>
                  <a:pt x="1083026" y="554098"/>
                  <a:pt x="882652" y="465221"/>
                  <a:pt x="682325" y="523220"/>
                </a:cubicBezTo>
                <a:cubicBezTo>
                  <a:pt x="481998" y="581219"/>
                  <a:pt x="329318" y="478459"/>
                  <a:pt x="0" y="523220"/>
                </a:cubicBezTo>
                <a:cubicBezTo>
                  <a:pt x="-33433" y="409872"/>
                  <a:pt x="35639" y="106360"/>
                  <a:pt x="0" y="0"/>
                </a:cubicBezTo>
                <a:close/>
              </a:path>
              <a:path w="2624328" h="523220" stroke="0" extrusionOk="0">
                <a:moveTo>
                  <a:pt x="0" y="0"/>
                </a:moveTo>
                <a:cubicBezTo>
                  <a:pt x="188408" y="-18131"/>
                  <a:pt x="300490" y="41365"/>
                  <a:pt x="577352" y="0"/>
                </a:cubicBezTo>
                <a:cubicBezTo>
                  <a:pt x="854214" y="-41365"/>
                  <a:pt x="876649" y="47879"/>
                  <a:pt x="1102218" y="0"/>
                </a:cubicBezTo>
                <a:cubicBezTo>
                  <a:pt x="1327787" y="-47879"/>
                  <a:pt x="1433890" y="46939"/>
                  <a:pt x="1574597" y="0"/>
                </a:cubicBezTo>
                <a:cubicBezTo>
                  <a:pt x="1715304" y="-46939"/>
                  <a:pt x="1873799" y="36746"/>
                  <a:pt x="2125706" y="0"/>
                </a:cubicBezTo>
                <a:cubicBezTo>
                  <a:pt x="2377613" y="-36746"/>
                  <a:pt x="2473773" y="47558"/>
                  <a:pt x="2624328" y="0"/>
                </a:cubicBezTo>
                <a:cubicBezTo>
                  <a:pt x="2685244" y="195306"/>
                  <a:pt x="2592684" y="335563"/>
                  <a:pt x="2624328" y="523220"/>
                </a:cubicBezTo>
                <a:cubicBezTo>
                  <a:pt x="2497082" y="569661"/>
                  <a:pt x="2236147" y="515504"/>
                  <a:pt x="2099462" y="523220"/>
                </a:cubicBezTo>
                <a:cubicBezTo>
                  <a:pt x="1962777" y="530936"/>
                  <a:pt x="1808868" y="514960"/>
                  <a:pt x="1653327" y="523220"/>
                </a:cubicBezTo>
                <a:cubicBezTo>
                  <a:pt x="1497786" y="531480"/>
                  <a:pt x="1374201" y="476219"/>
                  <a:pt x="1180948" y="523220"/>
                </a:cubicBezTo>
                <a:cubicBezTo>
                  <a:pt x="987695" y="570221"/>
                  <a:pt x="835915" y="496227"/>
                  <a:pt x="708569" y="523220"/>
                </a:cubicBezTo>
                <a:cubicBezTo>
                  <a:pt x="581223" y="550213"/>
                  <a:pt x="235085" y="451610"/>
                  <a:pt x="0" y="523220"/>
                </a:cubicBezTo>
                <a:cubicBezTo>
                  <a:pt x="-533" y="301226"/>
                  <a:pt x="11952" y="2505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6385155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Upon click the button, it should out an </a:t>
            </a:r>
            <a:r>
              <a:rPr lang="en-US" sz="1400" b="1" dirty="0"/>
              <a:t>alert</a:t>
            </a:r>
            <a:endParaRPr lang="en-PH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741BF5-6EAC-E7AD-BAFB-326901CA74E4}"/>
              </a:ext>
            </a:extLst>
          </p:cNvPr>
          <p:cNvSpPr txBox="1"/>
          <p:nvPr/>
        </p:nvSpPr>
        <p:spPr>
          <a:xfrm>
            <a:off x="6309693" y="1861773"/>
            <a:ext cx="5428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tos Black" panose="020B0004020202020204" pitchFamily="34" charset="0"/>
              </a:rPr>
              <a:t>UNDERSTANDING EVENT HANDLERS</a:t>
            </a:r>
            <a:endParaRPr lang="en-PH" sz="2400" dirty="0">
              <a:latin typeface="Aptos Black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C30EE-5B86-48EB-0D11-0A6949039E71}"/>
              </a:ext>
            </a:extLst>
          </p:cNvPr>
          <p:cNvSpPr txBox="1"/>
          <p:nvPr/>
        </p:nvSpPr>
        <p:spPr>
          <a:xfrm>
            <a:off x="6309693" y="2323438"/>
            <a:ext cx="56506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Just like in native JavaScript, React allows us to bind logic behind components such as clicks.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dirty="0"/>
              <a:t>The upgrade to this, we can manipulate </a:t>
            </a:r>
            <a:r>
              <a:rPr lang="en-PH" b="1" dirty="0"/>
              <a:t>states </a:t>
            </a:r>
            <a:r>
              <a:rPr lang="en-PH" dirty="0"/>
              <a:t>– in a way that we can conditionally </a:t>
            </a:r>
            <a:r>
              <a:rPr lang="en-PH" b="1" dirty="0"/>
              <a:t>render</a:t>
            </a:r>
            <a:r>
              <a:rPr lang="en-PH" dirty="0"/>
              <a:t> certain components upon clicking a button – or maybe call APIs to fetch data.</a:t>
            </a:r>
          </a:p>
        </p:txBody>
      </p:sp>
    </p:spTree>
    <p:extLst>
      <p:ext uri="{BB962C8B-B14F-4D97-AF65-F5344CB8AC3E}">
        <p14:creationId xmlns:p14="http://schemas.microsoft.com/office/powerpoint/2010/main" val="1236426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CA968-4140-31E4-DC46-7C55AAE7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5ADF32-8A8F-19F8-C939-17416C5B5F4D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968AD-D4E2-AA96-A15D-2D8C50486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76CAB1-9465-62B3-AF50-315D25169884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ECCEA1-A699-A475-BA76-1EE09CFCF42E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4835FB-11E6-C7FD-CAB5-11552B839537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67BE8-F008-01CF-ED24-B21F2D33542E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9F8551-41FD-B2F6-95C1-64941F92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288" y="853731"/>
            <a:ext cx="3964140" cy="550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y be a graphic of text that says 'NTML BASIC REACT COMPONENT ANATOMY Import Statement (Optional but common setup) Component Definition (A JavaScript Function) import React from 'peact'; Props (Data Inputs/Arguments) function Greeting (props) { return ( &lt;div className=&quot; 'greeting-container&quot;&gt; &lt;h1&gt;Hello, {props.name}!&lt;/h1&gt; !&lt;/h1&gt; {props &lt;p&gt;Welcome to my React app. app.&lt;/p&gt; &lt;/div&gt; } Return Statement (JSX Output) JSX (UI Markup &amp; Dynamic Data) export default Greeting; Export Statement (Makes it reusable) Think of components as reusable building blocks for your UI, like digital Lego bricks. Header Content Footer'">
            <a:extLst>
              <a:ext uri="{FF2B5EF4-FFF2-40B4-BE49-F238E27FC236}">
                <a16:creationId xmlns:a16="http://schemas.microsoft.com/office/drawing/2014/main" id="{26DA98DF-DE7F-8A67-C5E1-636B6D4A4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583" y="881569"/>
            <a:ext cx="4434331" cy="550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887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80770-C05F-331D-D39E-F333B3C0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03EA49-FA9E-D6F3-75BD-993A2CDB2B64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78D4B-325F-ED9B-C0A9-26355D35C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35C35B-6042-E26C-EB6E-5ADD3C91A08B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821ED5-E41C-70E4-A932-3461001BF02E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EF3EB5-7177-2B0A-33D5-6EF573C7C53D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EA54E-8782-569E-EAC8-FBE44C8D0B9F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EF3A7B-F2C8-8495-84D9-3413CEA8A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288" y="853731"/>
            <a:ext cx="3964140" cy="550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y be a graphic of text that says 'NTML BASIC REACT COMPONENT ANATOMY Import Statement (Optional but common setup) Component Definition (A JavaScript Function) import React from 'peact'; Props (Data Inputs/Arguments) function Greeting (props) { return ( &lt;div className=&quot; 'greeting-container&quot;&gt; &lt;h1&gt;Hello, {props.name}!&lt;/h1&gt; !&lt;/h1&gt; {props &lt;p&gt;Welcome to my React app. app.&lt;/p&gt; &lt;/div&gt; } Return Statement (JSX Output) JSX (UI Markup &amp; Dynamic Data) export default Greeting; Export Statement (Makes it reusable) Think of components as reusable building blocks for your UI, like digital Lego bricks. Header Content Footer'">
            <a:extLst>
              <a:ext uri="{FF2B5EF4-FFF2-40B4-BE49-F238E27FC236}">
                <a16:creationId xmlns:a16="http://schemas.microsoft.com/office/drawing/2014/main" id="{BFDDA802-AA84-D6E7-77B6-8A0241BB5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583" y="881569"/>
            <a:ext cx="4434331" cy="550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975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1C00-E8C7-A658-09EA-B0074A52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7C7ED-803B-6DFC-89B8-F22463921686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C4B95-31DB-8641-00B2-1DB84E206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A4AF9B-C4E7-B12C-2B55-341602909505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1D149E-7E42-47A2-15E8-2B09FAF70A95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B9B902-F7F1-7958-FF93-2BCA4A8E7E65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568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880</Words>
  <Application>Microsoft Office PowerPoint</Application>
  <PresentationFormat>Widescreen</PresentationFormat>
  <Paragraphs>163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Black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OverZenith</dc:creator>
  <cp:lastModifiedBy>OverZenith</cp:lastModifiedBy>
  <cp:revision>20</cp:revision>
  <dcterms:created xsi:type="dcterms:W3CDTF">2026-02-26T13:50:11Z</dcterms:created>
  <dcterms:modified xsi:type="dcterms:W3CDTF">2026-03-02T14:08:57Z</dcterms:modified>
</cp:coreProperties>
</file>